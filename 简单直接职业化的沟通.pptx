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007582205" r:id="rId2"/>
    <p:sldId id="262" r:id="rId3"/>
    <p:sldId id="278" r:id="rId4"/>
    <p:sldId id="2007582211" r:id="rId5"/>
    <p:sldId id="287" r:id="rId6"/>
    <p:sldId id="325" r:id="rId7"/>
    <p:sldId id="285" r:id="rId8"/>
    <p:sldId id="2007582210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2007582206" r:id="rId17"/>
    <p:sldId id="292" r:id="rId18"/>
    <p:sldId id="274" r:id="rId19"/>
    <p:sldId id="275" r:id="rId20"/>
    <p:sldId id="303" r:id="rId21"/>
    <p:sldId id="301" r:id="rId22"/>
    <p:sldId id="300" r:id="rId23"/>
    <p:sldId id="2007582207" r:id="rId24"/>
    <p:sldId id="312" r:id="rId25"/>
    <p:sldId id="283" r:id="rId26"/>
    <p:sldId id="313" r:id="rId27"/>
    <p:sldId id="314" r:id="rId28"/>
    <p:sldId id="315" r:id="rId29"/>
    <p:sldId id="316" r:id="rId30"/>
    <p:sldId id="317" r:id="rId31"/>
    <p:sldId id="318" r:id="rId32"/>
    <p:sldId id="2007582208" r:id="rId33"/>
    <p:sldId id="306" r:id="rId34"/>
    <p:sldId id="319" r:id="rId35"/>
    <p:sldId id="321" r:id="rId36"/>
    <p:sldId id="322" r:id="rId37"/>
    <p:sldId id="320" r:id="rId38"/>
    <p:sldId id="323" r:id="rId39"/>
    <p:sldId id="309" r:id="rId40"/>
    <p:sldId id="334" r:id="rId41"/>
    <p:sldId id="2007582209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09" d="100"/>
          <a:sy n="109" d="100"/>
        </p:scale>
        <p:origin x="2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FD14F-CB7A-A849-98F2-028795802069}" type="datetimeFigureOut">
              <a:rPr kumimoji="1" lang="zh-CN" altLang="en-US" smtClean="0"/>
              <a:t>2023/11/28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A3EE4-40B7-2A47-BC1B-3DEABA3CD7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661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不是一对一，是多对多</a:t>
            </a:r>
            <a:endParaRPr kumimoji="1" lang="en-US" altLang="zh-CN" dirty="0"/>
          </a:p>
          <a:p>
            <a:r>
              <a:rPr kumimoji="1" lang="zh-CN" altLang="en-US" dirty="0"/>
              <a:t>说</a:t>
            </a:r>
            <a:endParaRPr kumimoji="1" lang="en-US" altLang="zh-CN" dirty="0"/>
          </a:p>
          <a:p>
            <a:r>
              <a:rPr kumimoji="1" lang="zh-CN" altLang="en-US" dirty="0"/>
              <a:t>说、听、影响、共识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114C49-C8B1-D94C-94A4-E5DE6795F29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179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问问有哪些渠道和介质</a:t>
            </a:r>
            <a:endParaRPr lang="en-US" altLang="zh-CN"/>
          </a:p>
          <a:p>
            <a:r>
              <a:rPr lang="zh-CN" altLang="en-US"/>
              <a:t>比如：公开的渠道和一对一的方式会有不同？对比。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64A129-6DFE-450A-BDBF-7B8CB51C165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06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、每种类型都有用武之地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、平时用哪种最多？为什么？岗位、文化。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 sz="1200">
                <a:latin typeface="宋体" pitchFamily="2" charset="-122"/>
                <a:ea typeface="宋体" pitchFamily="2" charset="-122"/>
                <a:cs typeface="+mn-cs"/>
              </a:rPr>
              <a:t>这六种沟通的类型有没有性别倾向？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64A129-6DFE-450A-BDBF-7B8CB51C165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06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64A129-6DFE-450A-BDBF-7B8CB51C165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14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简单直接</a:t>
            </a:r>
            <a:r>
              <a:rPr lang="en-US" altLang="zh-CN" sz="1200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+</a:t>
            </a:r>
            <a:r>
              <a:rPr lang="zh-CN" altLang="en-US" sz="1200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职业化，不仅需要态度，还需要技巧</a:t>
            </a:r>
            <a:endParaRPr lang="en-US" altLang="zh-CN" sz="120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64A129-6DFE-450A-BDBF-7B8CB51C165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Rtx</a:t>
            </a:r>
            <a:r>
              <a:rPr lang="zh-CN" altLang="en-US"/>
              <a:t>收信息者没有先后，信息平等对称</a:t>
            </a:r>
            <a:endParaRPr lang="en-US" altLang="zh-CN"/>
          </a:p>
          <a:p>
            <a:r>
              <a:rPr lang="en-US" altLang="zh-CN"/>
              <a:t>Email</a:t>
            </a:r>
            <a:r>
              <a:rPr lang="zh-CN" altLang="en-US"/>
              <a:t>可以抄送、暗送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64A129-6DFE-450A-BDBF-7B8CB51C165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0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形状  描述已自动生成">
            <a:extLst>
              <a:ext uri="{FF2B5EF4-FFF2-40B4-BE49-F238E27FC236}">
                <a16:creationId xmlns:a16="http://schemas.microsoft.com/office/drawing/2014/main" id="{2E84A13F-08BB-574E-93EB-A618BD971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6" name="图片 5" descr="形状  低可信度描述已自动生成">
            <a:extLst>
              <a:ext uri="{FF2B5EF4-FFF2-40B4-BE49-F238E27FC236}">
                <a16:creationId xmlns:a16="http://schemas.microsoft.com/office/drawing/2014/main" id="{BE06D990-1247-4F4B-8FF5-902C5F6CC7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3669" y="5149155"/>
            <a:ext cx="1950765" cy="1482110"/>
          </a:xfrm>
          <a:prstGeom prst="rect">
            <a:avLst/>
          </a:prstGeom>
        </p:spPr>
      </p:pic>
      <p:pic>
        <p:nvPicPr>
          <p:cNvPr id="5" name="图片 4" descr="图片包含 图标&#10;&#10;描述已自动生成">
            <a:extLst>
              <a:ext uri="{FF2B5EF4-FFF2-40B4-BE49-F238E27FC236}">
                <a16:creationId xmlns:a16="http://schemas.microsoft.com/office/drawing/2014/main" id="{452524AF-DB45-3F40-A6D6-3426584CFC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7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形状  低可信度描述已自动生成">
            <a:extLst>
              <a:ext uri="{FF2B5EF4-FFF2-40B4-BE49-F238E27FC236}">
                <a16:creationId xmlns:a16="http://schemas.microsoft.com/office/drawing/2014/main" id="{BE06D990-1247-4F4B-8FF5-902C5F6CC7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3669" y="5149155"/>
            <a:ext cx="1950765" cy="1482110"/>
          </a:xfrm>
          <a:prstGeom prst="rect">
            <a:avLst/>
          </a:prstGeom>
        </p:spPr>
      </p:pic>
      <p:pic>
        <p:nvPicPr>
          <p:cNvPr id="4" name="图片 3" descr="图片包含 图标&#10;&#10;描述已自动生成">
            <a:extLst>
              <a:ext uri="{FF2B5EF4-FFF2-40B4-BE49-F238E27FC236}">
                <a16:creationId xmlns:a16="http://schemas.microsoft.com/office/drawing/2014/main" id="{BD476EA7-C394-8D43-89D1-D47A1EF3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模版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B171301-52A8-B84A-8455-EF494F7633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64630"/>
            <a:ext cx="12192000" cy="293370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ABD046-9EBB-624B-B7C9-DDB3B875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635BD92-A313-5349-83FB-DCA423D39CDD}"/>
              </a:ext>
            </a:extLst>
          </p:cNvPr>
          <p:cNvCxnSpPr>
            <a:cxnSpLocks/>
          </p:cNvCxnSpPr>
          <p:nvPr userDrawn="1"/>
        </p:nvCxnSpPr>
        <p:spPr>
          <a:xfrm>
            <a:off x="335756" y="936000"/>
            <a:ext cx="1152048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2CB739-DF7F-FD49-B5F9-5FF65C760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9600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24242"/>
                </a:solidFill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  <a:lvl2pPr>
              <a:defRPr sz="1800">
                <a:solidFill>
                  <a:srgbClr val="424242"/>
                </a:solidFill>
                <a:latin typeface="PingFang SC" panose="020B0400000000000000" pitchFamily="34" charset="-122"/>
                <a:ea typeface="PingFang SC" panose="020B0400000000000000" pitchFamily="34" charset="-122"/>
              </a:defRPr>
            </a:lvl2pPr>
            <a:lvl3pPr>
              <a:defRPr sz="1600">
                <a:solidFill>
                  <a:srgbClr val="424242"/>
                </a:solidFill>
                <a:latin typeface="PingFang SC" panose="020B0400000000000000" pitchFamily="34" charset="-122"/>
                <a:ea typeface="PingFang SC" panose="020B0400000000000000" pitchFamily="34" charset="-122"/>
              </a:defRPr>
            </a:lvl3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40AD007-525A-B042-88FE-03DB5CE1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288000"/>
            <a:ext cx="11184244" cy="540000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178CC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pic>
        <p:nvPicPr>
          <p:cNvPr id="8" name="图片 7" descr="图片包含 图标&#10;&#10;描述已自动生成">
            <a:extLst>
              <a:ext uri="{FF2B5EF4-FFF2-40B4-BE49-F238E27FC236}">
                <a16:creationId xmlns:a16="http://schemas.microsoft.com/office/drawing/2014/main" id="{032ACAC4-A6EF-824E-AB40-485FD5DF40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模版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F12A4-0DB1-3E4D-A1D6-2AEEF594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288000"/>
            <a:ext cx="11184244" cy="540000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178CC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6755FC00-1576-A043-B843-822C044A0045}"/>
              </a:ext>
            </a:extLst>
          </p:cNvPr>
          <p:cNvCxnSpPr>
            <a:cxnSpLocks/>
          </p:cNvCxnSpPr>
          <p:nvPr userDrawn="1"/>
        </p:nvCxnSpPr>
        <p:spPr>
          <a:xfrm>
            <a:off x="335756" y="936000"/>
            <a:ext cx="1152048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" name="图片 5" descr="图片包含 图标&#10;&#10;描述已自动生成">
            <a:extLst>
              <a:ext uri="{FF2B5EF4-FFF2-40B4-BE49-F238E27FC236}">
                <a16:creationId xmlns:a16="http://schemas.microsoft.com/office/drawing/2014/main" id="{681DA465-9660-E746-882C-55E952C7E7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D737AE-44FB-314B-8E1E-06E410A42F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64630"/>
            <a:ext cx="12192000" cy="293370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ABD046-9EBB-624B-B7C9-DDB3B875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603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3E512F6-CBDA-8C4B-8F15-9A7CDC47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2089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5400">
                <a:solidFill>
                  <a:srgbClr val="1178CC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pic>
        <p:nvPicPr>
          <p:cNvPr id="5" name="图片 4" descr="图片包含 图标&#10;&#10;描述已自动生成">
            <a:extLst>
              <a:ext uri="{FF2B5EF4-FFF2-40B4-BE49-F238E27FC236}">
                <a16:creationId xmlns:a16="http://schemas.microsoft.com/office/drawing/2014/main" id="{CAB6AC1E-26BC-5B45-93E1-E04294B385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56B62F-F6BE-FC46-8C27-3472060993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64630"/>
            <a:ext cx="12192000" cy="29337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72A9A-8ADE-FE47-B61D-4A7D55E4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286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6F5F8-C3A5-E741-873B-75814C5D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88000"/>
            <a:ext cx="11185200" cy="540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>
                <a:solidFill>
                  <a:srgbClr val="1178CC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9A868-C92C-3D4B-9D3D-110E8B1E8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60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  <a:lvl2pPr>
              <a:defRPr sz="1800"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2pPr>
            <a:lvl3pPr>
              <a:defRPr sz="1600"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3pPr>
            <a:lvl4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4pPr>
            <a:lvl5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926AE4-8E01-E741-8235-35CC3CC80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60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  <a:lvl2pPr>
              <a:defRPr sz="1800"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2pPr>
            <a:lvl3pPr>
              <a:defRPr sz="1600"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3pPr>
            <a:lvl4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4pPr>
            <a:lvl5pPr>
              <a:defRPr b="0" i="0">
                <a:latin typeface="PingFang SC" panose="020B0400000000000000" pitchFamily="34" charset="-122"/>
                <a:ea typeface="PingFang SC" panose="020B0400000000000000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F34752E6-BF95-4044-9512-62C66062730B}"/>
              </a:ext>
            </a:extLst>
          </p:cNvPr>
          <p:cNvCxnSpPr>
            <a:cxnSpLocks/>
          </p:cNvCxnSpPr>
          <p:nvPr userDrawn="1"/>
        </p:nvCxnSpPr>
        <p:spPr>
          <a:xfrm>
            <a:off x="335756" y="936000"/>
            <a:ext cx="1152048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" name="图片 7" descr="图片包含 图标&#10;&#10;描述已自动生成">
            <a:extLst>
              <a:ext uri="{FF2B5EF4-FFF2-40B4-BE49-F238E27FC236}">
                <a16:creationId xmlns:a16="http://schemas.microsoft.com/office/drawing/2014/main" id="{31A71D54-842D-984B-9B7F-94E566D4F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B55164-3610-3F4F-B502-C7344FF100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64630"/>
            <a:ext cx="12192000" cy="293370"/>
          </a:xfrm>
          <a:prstGeom prst="rect">
            <a:avLst/>
          </a:prstGeom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47DF775-6AF6-5342-B31F-6A58426D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021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89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E977AA-1BD6-2342-9AA4-6B6C3C66659C}"/>
              </a:ext>
            </a:extLst>
          </p:cNvPr>
          <p:cNvSpPr/>
          <p:nvPr userDrawn="1"/>
        </p:nvSpPr>
        <p:spPr>
          <a:xfrm>
            <a:off x="-1" y="0"/>
            <a:ext cx="4154311" cy="6858000"/>
          </a:xfrm>
          <a:prstGeom prst="rect">
            <a:avLst/>
          </a:prstGeom>
          <a:solidFill>
            <a:srgbClr val="117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altLang="zh-CN" sz="40000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16E024-1F05-AF44-A89A-8C1C94D4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310" y="1091635"/>
            <a:ext cx="8037689" cy="1152000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solidFill>
                  <a:srgbClr val="1178CC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040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二级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120A38-7296-8745-827B-2FE64B046C4F}"/>
              </a:ext>
            </a:extLst>
          </p:cNvPr>
          <p:cNvSpPr/>
          <p:nvPr userDrawn="1"/>
        </p:nvSpPr>
        <p:spPr>
          <a:xfrm>
            <a:off x="0" y="0"/>
            <a:ext cx="5562600" cy="6858000"/>
          </a:xfrm>
          <a:prstGeom prst="rect">
            <a:avLst/>
          </a:prstGeom>
          <a:solidFill>
            <a:srgbClr val="117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altLang="zh-CN" sz="40000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96F7180-0CC2-2D4B-8221-E49EAB8D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2262809"/>
            <a:ext cx="6629399" cy="23323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800"/>
            </a:lvl1pPr>
          </a:lstStyle>
          <a:p>
            <a:pPr algn="ctr">
              <a:lnSpc>
                <a:spcPct val="150000"/>
              </a:lnSpc>
            </a:pPr>
            <a:r>
              <a:rPr kumimoji="1" lang="zh-CN" altLang="en-US" sz="4400" dirty="0">
                <a:solidFill>
                  <a:srgbClr val="1178CC"/>
                </a:solidFill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5587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图标&#10;&#10;描述已自动生成">
            <a:extLst>
              <a:ext uri="{FF2B5EF4-FFF2-40B4-BE49-F238E27FC236}">
                <a16:creationId xmlns:a16="http://schemas.microsoft.com/office/drawing/2014/main" id="{51AD5DD2-D4DB-314C-A2C3-4D4DE38A6A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000" y="258232"/>
            <a:ext cx="433703" cy="54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2851C0-8C2E-B847-B272-6F84FE9849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64630"/>
            <a:ext cx="12192000" cy="293370"/>
          </a:xfrm>
          <a:prstGeom prst="rect">
            <a:avLst/>
          </a:prstGeom>
        </p:spPr>
      </p:pic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75FB3F04-847D-D347-92B5-18EFB58B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021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685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81557AD2-01AB-6747-BA0C-A900F5676980}"/>
              </a:ext>
            </a:extLst>
          </p:cNvPr>
          <p:cNvSpPr txBox="1"/>
          <p:nvPr userDrawn="1"/>
        </p:nvSpPr>
        <p:spPr>
          <a:xfrm>
            <a:off x="1" y="-400414"/>
            <a:ext cx="1883932" cy="336417"/>
          </a:xfrm>
          <a:prstGeom prst="rect">
            <a:avLst/>
          </a:prstGeom>
          <a:solidFill>
            <a:srgbClr val="0C4D9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67284" tIns="67284" rIns="67284" bIns="67284" rtlCol="0" anchor="ctr">
            <a:noAutofit/>
          </a:bodyPr>
          <a:lstStyle/>
          <a:p>
            <a:pPr algn="ctr"/>
            <a:r>
              <a:rPr lang="en-US" altLang="zh-CN" sz="1683" b="1" dirty="0">
                <a:solidFill>
                  <a:schemeClr val="bg1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12-77-152</a:t>
            </a:r>
            <a:endParaRPr lang="zh-CN" altLang="en-US" sz="1683" b="1" dirty="0">
              <a:solidFill>
                <a:schemeClr val="bg1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B195F063-95AE-094A-BEBC-277DD4076809}"/>
              </a:ext>
            </a:extLst>
          </p:cNvPr>
          <p:cNvSpPr txBox="1"/>
          <p:nvPr userDrawn="1"/>
        </p:nvSpPr>
        <p:spPr>
          <a:xfrm>
            <a:off x="2107646" y="-400414"/>
            <a:ext cx="1883932" cy="336417"/>
          </a:xfrm>
          <a:prstGeom prst="rect">
            <a:avLst/>
          </a:prstGeom>
          <a:solidFill>
            <a:srgbClr val="1178CC"/>
          </a:solidFill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7284" tIns="67284" rIns="67284" bIns="67284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en-US" altLang="zh-CN" sz="1683" b="1" dirty="0"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17-120-204</a:t>
            </a:r>
            <a:endParaRPr lang="zh-CN" altLang="en-US" sz="1683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3324603D-988F-9644-BA3F-9898A2EA84EC}"/>
              </a:ext>
            </a:extLst>
          </p:cNvPr>
          <p:cNvSpPr txBox="1"/>
          <p:nvPr userDrawn="1"/>
        </p:nvSpPr>
        <p:spPr>
          <a:xfrm>
            <a:off x="4215291" y="-400414"/>
            <a:ext cx="1883932" cy="336417"/>
          </a:xfrm>
          <a:prstGeom prst="rect">
            <a:avLst/>
          </a:prstGeom>
          <a:solidFill>
            <a:srgbClr val="42CED1"/>
          </a:solidFill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7284" tIns="67284" rIns="67284" bIns="67284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en-US" altLang="zh-CN" sz="1683" b="1" dirty="0"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66-206-209</a:t>
            </a:r>
            <a:endParaRPr lang="zh-CN" altLang="en-US" sz="1683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B47452F1-C25A-514C-9BDE-E24392E9AE85}"/>
              </a:ext>
            </a:extLst>
          </p:cNvPr>
          <p:cNvSpPr txBox="1"/>
          <p:nvPr userDrawn="1"/>
        </p:nvSpPr>
        <p:spPr>
          <a:xfrm>
            <a:off x="10425166" y="-400414"/>
            <a:ext cx="1883932" cy="336417"/>
          </a:xfrm>
          <a:prstGeom prst="rect">
            <a:avLst/>
          </a:prstGeom>
          <a:solidFill>
            <a:srgbClr val="E05514"/>
          </a:solidFill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7284" tIns="67284" rIns="67284" bIns="67284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en-US" altLang="zh-CN" sz="1683" b="1" dirty="0"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224-85-20</a:t>
            </a:r>
            <a:endParaRPr lang="zh-CN" altLang="en-US" sz="1683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3F8746F5-477F-234C-9FB4-E62184BF6360}"/>
              </a:ext>
            </a:extLst>
          </p:cNvPr>
          <p:cNvSpPr txBox="1"/>
          <p:nvPr userDrawn="1"/>
        </p:nvSpPr>
        <p:spPr>
          <a:xfrm>
            <a:off x="8317521" y="-400414"/>
            <a:ext cx="1883932" cy="336417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7284" tIns="67284" rIns="67284" bIns="67284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en-US" altLang="zh-CN" sz="1683" b="1" dirty="0"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66-66-66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E59974BF-4065-414B-94A4-08DA6D1F9499}"/>
              </a:ext>
            </a:extLst>
          </p:cNvPr>
          <p:cNvSpPr txBox="1"/>
          <p:nvPr userDrawn="1"/>
        </p:nvSpPr>
        <p:spPr>
          <a:xfrm>
            <a:off x="6282630" y="-400414"/>
            <a:ext cx="1883932" cy="336417"/>
          </a:xfrm>
          <a:prstGeom prst="rect">
            <a:avLst/>
          </a:prstGeom>
          <a:solidFill>
            <a:srgbClr val="46C81E"/>
          </a:solidFill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7284" tIns="67284" rIns="67284" bIns="67284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en-US" altLang="zh-CN" sz="1683" b="1" dirty="0"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70-200-30</a:t>
            </a:r>
            <a:endParaRPr lang="zh-CN" altLang="en-US" sz="1683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01E88-211B-F744-9F40-7217D91C4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102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PingFang SC Regular" panose="020B0400000000000000" pitchFamily="34" charset="-122"/>
                <a:cs typeface="Arial" panose="020B0604020202020204" pitchFamily="34" charset="0"/>
              </a:defRPr>
            </a:lvl1pPr>
          </a:lstStyle>
          <a:p>
            <a:fld id="{A0F6DE70-47B8-104D-B590-F072329ECB48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245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chemeClr val="tx1">
              <a:lumMod val="75000"/>
              <a:lumOff val="25000"/>
            </a:schemeClr>
          </a:solidFill>
          <a:latin typeface="PingFang SC Semibold" panose="020B0400000000000000" pitchFamily="34" charset="-122"/>
          <a:ea typeface="PingFang SC Semibold" panose="020B0400000000000000" pitchFamily="3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50000"/>
        </a:lnSpc>
        <a:spcBef>
          <a:spcPts val="400"/>
        </a:spcBef>
        <a:buFont typeface="Arial" panose="020B0604020202020204" pitchFamily="34" charset="0"/>
        <a:buChar char="•"/>
        <a:defRPr sz="2000" b="0" i="0" kern="1200">
          <a:solidFill>
            <a:schemeClr val="tx1">
              <a:lumMod val="75000"/>
              <a:lumOff val="25000"/>
            </a:schemeClr>
          </a:solidFill>
          <a:latin typeface="PingFang SC Regular" panose="020B0400000000000000" pitchFamily="34" charset="-122"/>
          <a:ea typeface="PingFang SC Regular" panose="020B0400000000000000" pitchFamily="34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6" Type="http://schemas.microsoft.com/office/2007/relationships/hdphoto" Target="../media/hdphoto3.wdp"/><Relationship Id="rId5" Type="http://schemas.openxmlformats.org/officeDocument/2006/relationships/image" Target="../media/image42.png"/><Relationship Id="rId4" Type="http://schemas.microsoft.com/office/2007/relationships/hdphoto" Target="../media/hdphoto2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43.png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F664D0-BABA-EEC2-E790-51A2790B57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10338"/>
            <a:ext cx="2743200" cy="365125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F6DE70-47B8-104D-B590-F072329ECB48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ingFang SC Regular" panose="020B0400000000000000" pitchFamily="34" charset="-122"/>
                <a:cs typeface="Arial" panose="020B0604020202020204" pitchFamily="34" charset="0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PingFang SC Regular" panose="020B04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8D59FB-ABA8-AB93-AF9B-E3F1C420E5B2}"/>
              </a:ext>
            </a:extLst>
          </p:cNvPr>
          <p:cNvSpPr txBox="1">
            <a:spLocks/>
          </p:cNvSpPr>
          <p:nvPr/>
        </p:nvSpPr>
        <p:spPr>
          <a:xfrm>
            <a:off x="745333" y="1404731"/>
            <a:ext cx="10979896" cy="253116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  <a:cs typeface="+mj-cs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178CC"/>
                </a:solidFill>
                <a:effectLst/>
                <a:uLnTx/>
                <a:uFillTx/>
                <a:latin typeface="PingFang SC Semibold" panose="020B0400000000000000" pitchFamily="34" charset="-122"/>
                <a:ea typeface="PingFang SC Semibold" panose="020B0400000000000000" pitchFamily="34" charset="-122"/>
                <a:cs typeface="+mj-cs"/>
              </a:rPr>
              <a:t>简单直接</a:t>
            </a: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1178CC"/>
                </a:solidFill>
                <a:effectLst/>
                <a:uLnTx/>
                <a:uFillTx/>
                <a:latin typeface="PingFang SC Semibold" panose="020B0400000000000000" pitchFamily="34" charset="-122"/>
                <a:ea typeface="PingFang SC Semibold" panose="020B0400000000000000" pitchFamily="34" charset="-122"/>
                <a:cs typeface="+mj-cs"/>
              </a:rPr>
              <a:t>+</a:t>
            </a:r>
            <a:r>
              <a:rPr kumimoji="1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178CC"/>
                </a:solidFill>
                <a:effectLst/>
                <a:uLnTx/>
                <a:uFillTx/>
                <a:latin typeface="PingFang SC Semibold" panose="020B0400000000000000" pitchFamily="34" charset="-122"/>
                <a:ea typeface="PingFang SC Semibold" panose="020B0400000000000000" pitchFamily="34" charset="-122"/>
                <a:cs typeface="+mj-cs"/>
              </a:rPr>
              <a:t>职业化的沟通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46C81E"/>
              </a:solidFill>
              <a:effectLst/>
              <a:uLnTx/>
              <a:uFillTx/>
              <a:latin typeface="PingFang SC Semibold" panose="020B0400000000000000" pitchFamily="34" charset="-122"/>
              <a:ea typeface="PingFang SC Semibold" panose="020B0400000000000000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064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7492" y="2980877"/>
            <a:ext cx="3286836" cy="3310741"/>
          </a:xfrm>
          <a:prstGeom prst="rect">
            <a:avLst/>
          </a:prstGeom>
        </p:spPr>
      </p:pic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培训目的</a:t>
            </a:r>
            <a:endParaRPr 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80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72089" y="1187450"/>
            <a:ext cx="10735489" cy="22415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了解公司倡导的沟通方式以提高个人及组织的沟通效率。</a:t>
            </a:r>
          </a:p>
          <a:p>
            <a:pPr>
              <a:lnSpc>
                <a:spcPct val="20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帮助员工更快了解公司文化中的重要部分，以提高新员工适应的速度，并提高成活率。</a:t>
            </a:r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309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27326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3" descr="接收者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9615301" y="2424113"/>
            <a:ext cx="1385887" cy="216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22" descr="发送者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136262" y="2435227"/>
            <a:ext cx="1352550" cy="214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双向沟通模式</a:t>
            </a:r>
            <a:endParaRPr 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8848" name="组合 78847"/>
          <p:cNvGrpSpPr/>
          <p:nvPr/>
        </p:nvGrpSpPr>
        <p:grpSpPr>
          <a:xfrm>
            <a:off x="2239640" y="1815355"/>
            <a:ext cx="7455688" cy="3765174"/>
            <a:chOff x="962170" y="1963272"/>
            <a:chExt cx="7455688" cy="3765174"/>
          </a:xfrm>
        </p:grpSpPr>
        <p:sp>
          <p:nvSpPr>
            <p:cNvPr id="2" name="圆角矩形 1"/>
            <p:cNvSpPr/>
            <p:nvPr/>
          </p:nvSpPr>
          <p:spPr>
            <a:xfrm>
              <a:off x="962170" y="3482789"/>
              <a:ext cx="1613647" cy="618564"/>
            </a:xfrm>
            <a:prstGeom prst="round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发送者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167187" y="1963273"/>
              <a:ext cx="1080000" cy="618564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编码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6804211" y="3482789"/>
              <a:ext cx="1613647" cy="618564"/>
            </a:xfrm>
            <a:prstGeom prst="round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接受者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883190" y="3482789"/>
              <a:ext cx="1613647" cy="618564"/>
            </a:xfrm>
            <a:prstGeom prst="roundRect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渠道</a:t>
              </a: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/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介质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6137073" y="1963272"/>
              <a:ext cx="1080000" cy="618564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解码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150013" y="5109882"/>
              <a:ext cx="1080000" cy="618564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反馈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cxnSp>
          <p:nvCxnSpPr>
            <p:cNvPr id="4" name="肘形连接符 3"/>
            <p:cNvCxnSpPr>
              <a:stCxn id="2" idx="0"/>
              <a:endCxn id="6" idx="1"/>
            </p:cNvCxnSpPr>
            <p:nvPr/>
          </p:nvCxnSpPr>
          <p:spPr>
            <a:xfrm rot="5400000" flipH="1" flipV="1">
              <a:off x="1362973" y="2678576"/>
              <a:ext cx="1210234" cy="398193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肘形连接符 14"/>
            <p:cNvCxnSpPr>
              <a:stCxn id="6" idx="3"/>
              <a:endCxn id="9" idx="1"/>
            </p:cNvCxnSpPr>
            <p:nvPr/>
          </p:nvCxnSpPr>
          <p:spPr>
            <a:xfrm>
              <a:off x="3247187" y="2272555"/>
              <a:ext cx="636003" cy="151951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9" idx="3"/>
              <a:endCxn id="12" idx="1"/>
            </p:cNvCxnSpPr>
            <p:nvPr/>
          </p:nvCxnSpPr>
          <p:spPr>
            <a:xfrm flipV="1">
              <a:off x="5496837" y="2272554"/>
              <a:ext cx="640236" cy="1519517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12" idx="3"/>
              <a:endCxn id="8" idx="0"/>
            </p:cNvCxnSpPr>
            <p:nvPr/>
          </p:nvCxnSpPr>
          <p:spPr>
            <a:xfrm>
              <a:off x="7217073" y="2272554"/>
              <a:ext cx="393962" cy="1210235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>
              <a:stCxn id="8" idx="2"/>
            </p:cNvCxnSpPr>
            <p:nvPr/>
          </p:nvCxnSpPr>
          <p:spPr>
            <a:xfrm rot="5400000">
              <a:off x="5761620" y="3569748"/>
              <a:ext cx="1317810" cy="2381020"/>
            </a:xfrm>
            <a:prstGeom prst="bentConnector2">
              <a:avLst/>
            </a:prstGeom>
            <a:ln>
              <a:prstDash val="sys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13" idx="1"/>
              <a:endCxn id="2" idx="2"/>
            </p:cNvCxnSpPr>
            <p:nvPr/>
          </p:nvCxnSpPr>
          <p:spPr>
            <a:xfrm rot="10800000">
              <a:off x="1768995" y="4101354"/>
              <a:ext cx="2381019" cy="1317811"/>
            </a:xfrm>
            <a:prstGeom prst="bentConnector2">
              <a:avLst/>
            </a:prstGeom>
            <a:ln>
              <a:prstDash val="sys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7" name="Picture 30" descr="渠道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11615" y="4034537"/>
            <a:ext cx="577782" cy="597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Picture 30" descr="渠道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8845" y="4044622"/>
            <a:ext cx="594342" cy="57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30" descr="渠道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62635" y="4054572"/>
            <a:ext cx="562708" cy="557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8369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沟通的类型（从信息传递目的即想要达成的效果的维度分）</a:t>
            </a:r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4127726" y="2210224"/>
            <a:ext cx="3738562" cy="291782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0488" tIns="44450" rIns="90488" bIns="44450"/>
          <a:lstStyle/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漫谈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闲聊</a:t>
            </a:r>
          </a:p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提供信息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获取信息</a:t>
            </a:r>
          </a:p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讨论（含征求意见）</a:t>
            </a:r>
          </a:p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提供分析结论</a:t>
            </a:r>
          </a:p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提供行动建议型（含请示）</a:t>
            </a:r>
          </a:p>
          <a:p>
            <a:pPr marL="323850" indent="-323850" fontAlgn="base">
              <a:lnSpc>
                <a:spcPct val="150000"/>
              </a:lnSpc>
              <a:spcBef>
                <a:spcPts val="25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提供行动指令</a:t>
            </a:r>
          </a:p>
        </p:txBody>
      </p:sp>
      <p:sp>
        <p:nvSpPr>
          <p:cNvPr id="10" name="下箭头 9"/>
          <p:cNvSpPr/>
          <p:nvPr/>
        </p:nvSpPr>
        <p:spPr>
          <a:xfrm>
            <a:off x="2703811" y="2175299"/>
            <a:ext cx="705872" cy="2987675"/>
          </a:xfrm>
          <a:prstGeom prst="down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听者责任渐强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8584331" y="2175299"/>
            <a:ext cx="705872" cy="2987675"/>
          </a:xfrm>
          <a:prstGeom prst="down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行动导向渐强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84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关于组织文化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优秀企业的共性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互相之间的“偏见”</a:t>
            </a:r>
            <a:endParaRPr 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>
            <a:off x="5044069" y="3314145"/>
            <a:ext cx="2131248" cy="2023479"/>
          </a:xfrm>
          <a:prstGeom prst="triangle">
            <a:avLst/>
          </a:prstGeom>
          <a:solidFill>
            <a:srgbClr val="92D050">
              <a:alpha val="70000"/>
            </a:srgbClr>
          </a:solidFill>
          <a:ln>
            <a:solidFill>
              <a:schemeClr val="accent3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卓越</a:t>
            </a:r>
            <a:endParaRPr lang="en-US" altLang="zh-CN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务实</a:t>
            </a:r>
            <a:endParaRPr lang="en-US" altLang="zh-CN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人文</a:t>
            </a:r>
            <a:endParaRPr lang="en-US" altLang="zh-CN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信任</a:t>
            </a:r>
            <a:endParaRPr lang="en-US" altLang="zh-CN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……</a:t>
            </a:r>
            <a:endPara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89476" y="2130393"/>
            <a:ext cx="4608478" cy="3234526"/>
            <a:chOff x="3846476" y="2130393"/>
            <a:chExt cx="4608478" cy="3234526"/>
          </a:xfrm>
        </p:grpSpPr>
        <p:sp>
          <p:nvSpPr>
            <p:cNvPr id="72" name="等腰三角形 71"/>
            <p:cNvSpPr/>
            <p:nvPr/>
          </p:nvSpPr>
          <p:spPr>
            <a:xfrm>
              <a:off x="3846476" y="2130393"/>
              <a:ext cx="3491175" cy="3234526"/>
            </a:xfrm>
            <a:prstGeom prst="triangle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014954" y="4463693"/>
              <a:ext cx="1440000" cy="307777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XX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文化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39945" y="2130393"/>
            <a:ext cx="4684688" cy="3234526"/>
            <a:chOff x="1396945" y="2130393"/>
            <a:chExt cx="4684688" cy="3234526"/>
          </a:xfrm>
        </p:grpSpPr>
        <p:sp>
          <p:nvSpPr>
            <p:cNvPr id="71" name="等腰三角形 70"/>
            <p:cNvSpPr/>
            <p:nvPr/>
          </p:nvSpPr>
          <p:spPr>
            <a:xfrm>
              <a:off x="2590458" y="2130393"/>
              <a:ext cx="3491175" cy="3234526"/>
            </a:xfrm>
            <a:prstGeom prst="triangle">
              <a:avLst/>
            </a:prstGeom>
            <a:noFill/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96945" y="4463693"/>
              <a:ext cx="1440000" cy="3077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某公司文化</a:t>
              </a:r>
              <a:endParaRPr lang="zh-CN" altLang="en-US" sz="20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42288" y="2596505"/>
            <a:ext cx="8915400" cy="2754767"/>
            <a:chOff x="499288" y="2596504"/>
            <a:chExt cx="8915400" cy="2754767"/>
          </a:xfrm>
        </p:grpSpPr>
        <p:sp>
          <p:nvSpPr>
            <p:cNvPr id="10" name="等腰三角形 9"/>
            <p:cNvSpPr/>
            <p:nvPr/>
          </p:nvSpPr>
          <p:spPr>
            <a:xfrm>
              <a:off x="2576809" y="3039308"/>
              <a:ext cx="1256019" cy="2311963"/>
            </a:xfrm>
            <a:prstGeom prst="triangle">
              <a:avLst>
                <a:gd name="adj" fmla="val 100000"/>
              </a:avLst>
            </a:prstGeom>
            <a:solidFill>
              <a:schemeClr val="accent5"/>
            </a:solidFill>
            <a:ln w="9525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6079099" y="3028192"/>
              <a:ext cx="1256019" cy="2311963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alpha val="50000"/>
              </a:schemeClr>
            </a:solidFill>
            <a:ln w="9525" cmpd="sng">
              <a:noFill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99288" y="2596504"/>
              <a:ext cx="3200400" cy="40011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XX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人怎样看某公司？</a:t>
              </a:r>
              <a:endParaRPr lang="zh-TW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214288" y="2596504"/>
              <a:ext cx="3200400" cy="40011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某公司人怎么看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XX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？</a:t>
              </a:r>
              <a:endParaRPr lang="zh-TW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588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rgbClr val="404040"/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31941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8474" y="935640"/>
            <a:ext cx="1057846" cy="1322308"/>
          </a:xfrm>
          <a:prstGeom prst="rect">
            <a:avLst/>
          </a:prstGeom>
        </p:spPr>
      </p:pic>
      <p:sp>
        <p:nvSpPr>
          <p:cNvPr id="3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沟通的基本原则：实质是</a:t>
            </a:r>
            <a:r>
              <a:rPr lang="zh-CN" altLang="en-US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“结果导向”</a:t>
            </a:r>
            <a:r>
              <a:rPr lang="en-US" altLang="zh-CN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+</a:t>
            </a:r>
            <a:r>
              <a:rPr lang="zh-CN" altLang="en-US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“客户导向”</a:t>
            </a:r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柱形 5"/>
          <p:cNvSpPr/>
          <p:nvPr/>
        </p:nvSpPr>
        <p:spPr>
          <a:xfrm>
            <a:off x="5665733" y="2060817"/>
            <a:ext cx="777923" cy="1583140"/>
          </a:xfrm>
          <a:prstGeom prst="can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25000">
                <a:schemeClr val="bg1"/>
              </a:gs>
              <a:gs pos="50000">
                <a:schemeClr val="tx1">
                  <a:lumMod val="75000"/>
                  <a:lumOff val="25000"/>
                </a:schemeClr>
              </a:gs>
              <a:gs pos="75000">
                <a:schemeClr val="bg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0800000" scaled="1"/>
            <a:tileRect/>
          </a:gradFill>
          <a:ln w="25400" cmpd="sng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3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五边形 6"/>
          <p:cNvSpPr/>
          <p:nvPr/>
        </p:nvSpPr>
        <p:spPr>
          <a:xfrm>
            <a:off x="6329154" y="2445690"/>
            <a:ext cx="3600000" cy="900000"/>
          </a:xfrm>
          <a:prstGeom prst="homePlate">
            <a:avLst/>
          </a:prstGeo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53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</a:gradFill>
          <a:ln w="38100"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extrusionH="127000">
            <a:bevelT w="88900" h="63500" prst="relaxedInset"/>
            <a:bevelB w="88900" h="63500" prst="relaxedInset"/>
            <a:contourClr>
              <a:schemeClr val="bg1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3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29154" y="2445690"/>
            <a:ext cx="3600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职业化</a:t>
            </a:r>
          </a:p>
        </p:txBody>
      </p:sp>
      <p:sp>
        <p:nvSpPr>
          <p:cNvPr id="15" name="五边形 14"/>
          <p:cNvSpPr/>
          <p:nvPr/>
        </p:nvSpPr>
        <p:spPr>
          <a:xfrm rot="10800000">
            <a:off x="2180234" y="2445690"/>
            <a:ext cx="3600000" cy="900000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53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5400000" scaled="1"/>
            <a:tileRect/>
          </a:gradFill>
          <a:ln w="38100" cmpd="sng">
            <a:solidFill>
              <a:schemeClr val="bg1"/>
            </a:solidFill>
          </a:ln>
          <a:effectLst/>
          <a:scene3d>
            <a:camera prst="orthographicFront"/>
            <a:lightRig rig="threePt" dir="t"/>
          </a:scene3d>
          <a:sp3d extrusionH="127000" contourW="12700">
            <a:bevelT w="88900" h="63500"/>
            <a:bevelB w="88900" h="63500"/>
            <a:extrusionClr>
              <a:schemeClr val="bg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80234" y="2445690"/>
            <a:ext cx="3600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简单直接</a:t>
            </a:r>
            <a:endParaRPr lang="zh-CN" altLang="en-US" sz="3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57403" y="3848673"/>
            <a:ext cx="8529849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采用自然的风格，即“生怕别人听不懂、不明白”的精神实质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177800" indent="-1778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要了解对方处于什么状态（如对背景了解多少、是否在“听”的状态）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177800" indent="-1778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告诉对方所应该知道的（而不是我知道的和我想说的；“生怕大家不知道，尽快通知团队成员”变成“尽快告诉干系人他们所应该知道的”）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177800" indent="-1778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了解你的沟通对象</a:t>
            </a:r>
          </a:p>
        </p:txBody>
      </p:sp>
    </p:spTree>
    <p:extLst>
      <p:ext uri="{BB962C8B-B14F-4D97-AF65-F5344CB8AC3E}">
        <p14:creationId xmlns:p14="http://schemas.microsoft.com/office/powerpoint/2010/main" val="30346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你了解你的沟通对象吗？你真的了解吗？</a:t>
            </a:r>
            <a:endParaRPr 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 descr="http://abster.files.wordpress.com/2007/11/professionals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6649" y="1778800"/>
            <a:ext cx="6723643" cy="4524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655111" y="1299348"/>
            <a:ext cx="2520000" cy="540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企业员工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5111" y="1987059"/>
            <a:ext cx="2520000" cy="540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职业经理人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5111" y="2674770"/>
            <a:ext cx="2520000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商人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5111" y="3362481"/>
            <a:ext cx="2520000" cy="540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企业家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5111" y="4050192"/>
            <a:ext cx="2520000" cy="5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Vs.</a:t>
            </a:r>
            <a:endParaRPr lang="zh-CN" altLang="en-US" sz="3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55111" y="4737903"/>
            <a:ext cx="2520000" cy="5400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政府工作人员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55111" y="5425612"/>
            <a:ext cx="2520000" cy="540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科研教育人员</a:t>
            </a:r>
          </a:p>
        </p:txBody>
      </p:sp>
    </p:spTree>
    <p:extLst>
      <p:ext uri="{BB962C8B-B14F-4D97-AF65-F5344CB8AC3E}">
        <p14:creationId xmlns:p14="http://schemas.microsoft.com/office/powerpoint/2010/main" val="68819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9256" y="2686082"/>
            <a:ext cx="146376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2686082"/>
            <a:ext cx="146376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区别于政治组织、教育机构，在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经济组织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中，人们的思维方式：</a:t>
            </a:r>
            <a:endParaRPr 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A7E7E50-4D32-DD3E-42BC-4C9BA3F51E35}"/>
              </a:ext>
            </a:extLst>
          </p:cNvPr>
          <p:cNvSpPr txBox="1">
            <a:spLocks/>
          </p:cNvSpPr>
          <p:nvPr/>
        </p:nvSpPr>
        <p:spPr>
          <a:xfrm>
            <a:off x="2606760" y="1417501"/>
            <a:ext cx="6998576" cy="458916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80000" tIns="108000" bIns="108000"/>
          <a:lstStyle>
            <a:lvl1pPr marL="228594" indent="-228594" algn="l" defTabSz="914377" rtl="0" eaLnBrk="1" latinLnBrk="0" hangingPunct="1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是否有助于公司的业务（与业务相关＋增加公司竞争力）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有何长处和短处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是否有其他选择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是否有先例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是否已获得的同意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预算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考虑组织上有什么影响（对人员、组织、文化的影响）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现在是否是合适的时机（主次优先）－对中高层</a:t>
            </a:r>
          </a:p>
          <a:p>
            <a:pPr marL="0" indent="0"/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9290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765986"/>
            <a:ext cx="1714842" cy="1224887"/>
          </a:xfrm>
          <a:prstGeom prst="rect">
            <a:avLst/>
          </a:prstGeom>
        </p:spPr>
      </p:pic>
      <p:sp>
        <p:nvSpPr>
          <p:cNvPr id="10" name="Text Placeholder 4"/>
          <p:cNvSpPr txBox="1">
            <a:spLocks/>
          </p:cNvSpPr>
          <p:nvPr/>
        </p:nvSpPr>
        <p:spPr bwMode="auto">
          <a:xfrm>
            <a:off x="2657902" y="994817"/>
            <a:ext cx="8175008" cy="860226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技巧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秒原则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在前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秒内或在前两句话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尤其是第一句话）让对方了解你的沟通类型</a:t>
            </a:r>
          </a:p>
        </p:txBody>
      </p:sp>
      <p:sp>
        <p:nvSpPr>
          <p:cNvPr id="15" name="Text Placeholder 4"/>
          <p:cNvSpPr txBox="1">
            <a:spLocks/>
          </p:cNvSpPr>
          <p:nvPr/>
        </p:nvSpPr>
        <p:spPr bwMode="auto">
          <a:xfrm>
            <a:off x="1375012" y="2017931"/>
            <a:ext cx="9511428" cy="4191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我想就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项目初设方案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跟你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讨论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一下。</a:t>
            </a: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我想就你这段时间的表现给你提一些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反馈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我想就薪酬体系向管理委员会提出调整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我有一些感想，想在你方便的时候和你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闲聊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一下。</a:t>
            </a: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我对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进行了一些分析，有些结论想和你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分享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一下。</a:t>
            </a: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我想占用你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个小时的时间就最近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项目的问题做一下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讨论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 algn="r"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我想占用你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分钟时间向你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通报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一下关于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项目在过去两个月的进展。</a:t>
            </a:r>
          </a:p>
          <a:p>
            <a:pPr>
              <a:lnSpc>
                <a:spcPct val="100000"/>
              </a:lnSpc>
              <a:buFont typeface="Arial" pitchFamily="34" charset="0"/>
              <a:buChar char="•"/>
            </a:pPr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5761" y="2432855"/>
            <a:ext cx="2781300" cy="283845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AF287DE-F137-5BA4-337C-EFAAD4B49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30</a:t>
            </a:r>
            <a:r>
              <a:rPr lang="zh-CN" altLang="en-US" dirty="0"/>
              <a:t>秒原则</a:t>
            </a:r>
          </a:p>
        </p:txBody>
      </p:sp>
    </p:spTree>
    <p:extLst>
      <p:ext uri="{BB962C8B-B14F-4D97-AF65-F5344CB8AC3E}">
        <p14:creationId xmlns:p14="http://schemas.microsoft.com/office/powerpoint/2010/main" val="231378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791813"/>
            <a:ext cx="1714842" cy="1224887"/>
          </a:xfrm>
          <a:prstGeom prst="rect">
            <a:avLst/>
          </a:prstGeom>
        </p:spPr>
      </p:pic>
      <p:sp>
        <p:nvSpPr>
          <p:cNvPr id="10" name="Text Placeholder 4"/>
          <p:cNvSpPr txBox="1">
            <a:spLocks/>
          </p:cNvSpPr>
          <p:nvPr/>
        </p:nvSpPr>
        <p:spPr bwMode="auto">
          <a:xfrm>
            <a:off x="2698868" y="952407"/>
            <a:ext cx="7920000" cy="86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技巧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分钟原则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在前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分钟内让对方接触关键信息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844" y="1809162"/>
            <a:ext cx="1714842" cy="1224887"/>
          </a:xfrm>
          <a:prstGeom prst="rect">
            <a:avLst/>
          </a:prstGeom>
        </p:spPr>
      </p:pic>
      <p:sp>
        <p:nvSpPr>
          <p:cNvPr id="13" name="Text Placeholder 4"/>
          <p:cNvSpPr txBox="1">
            <a:spLocks/>
          </p:cNvSpPr>
          <p:nvPr/>
        </p:nvSpPr>
        <p:spPr bwMode="auto">
          <a:xfrm>
            <a:off x="1431899" y="2005571"/>
            <a:ext cx="7920000" cy="86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技巧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：倒置法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先讲建议、结论，后讲建议或结论的依据。</a:t>
            </a:r>
          </a:p>
        </p:txBody>
      </p:sp>
      <p:sp>
        <p:nvSpPr>
          <p:cNvPr id="14" name="竖卷形 13"/>
          <p:cNvSpPr/>
          <p:nvPr/>
        </p:nvSpPr>
        <p:spPr>
          <a:xfrm>
            <a:off x="1143000" y="2865734"/>
            <a:ext cx="9906000" cy="3683346"/>
          </a:xfrm>
          <a:prstGeom prst="verticalScroll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80000" tIns="72000" rIns="144000" bIns="72000" rtlCol="0" anchor="ctr"/>
          <a:lstStyle/>
          <a:p>
            <a:pPr marL="285750" indent="-285750" eaLnBrk="0" hangingPunct="0">
              <a:defRPr/>
            </a:pPr>
            <a:r>
              <a:rPr lang="zh-CN" altLang="en-US" sz="20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“一页纸”</a:t>
            </a:r>
            <a:endParaRPr lang="en-US" altLang="zh-CN" sz="2000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 eaLnBrk="0" hangingPunct="0">
              <a:defRPr/>
            </a:pPr>
            <a:endParaRPr lang="en-US" altLang="zh-CN" sz="1600" u="sng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 eaLnBrk="0" hangingPunct="0">
              <a:buFont typeface="Wingdings" pitchFamily="2" charset="2"/>
              <a:buChar char="l"/>
              <a:defRPr/>
            </a:pPr>
            <a:r>
              <a:rPr lang="zh-CN" altLang="de-DE" sz="1600" u="sng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开篇段落（本次沟通的目的类型、主要背景、已获得的同意及预算）</a:t>
            </a:r>
            <a:endParaRPr lang="zh-CN" altLang="de-DE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0" hangingPunct="0">
              <a:buFont typeface="Wingdings" pitchFamily="2" charset="2"/>
              <a:buChar char="l"/>
              <a:defRPr/>
            </a:pPr>
            <a:r>
              <a:rPr lang="zh-CN" altLang="de-DE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本文建议</a:t>
            </a:r>
            <a:endParaRPr lang="zh-CN" altLang="de-DE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zh-CN" altLang="de-DE" sz="1600" u="sng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建议（方案主要特征，在建议比较简单的时候可以与开篇段落整合）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zh-CN" altLang="de-DE" sz="1600" u="sng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建议的依据（一般不超过三项）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zh-CN" altLang="de-DE" sz="1600" u="sng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细节</a:t>
            </a:r>
            <a:r>
              <a:rPr lang="en-US" altLang="zh-CN" sz="1600" u="sng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de-DE" sz="1600" u="sng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讨论（如其它关键注意事项，根据需要可能没有）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0" hangingPunct="0">
              <a:buFont typeface="Wingdings" pitchFamily="2" charset="2"/>
              <a:buChar char="l"/>
              <a:defRPr/>
            </a:pPr>
            <a:r>
              <a:rPr lang="zh-CN" altLang="de-DE" sz="1600" u="sng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下一步计划（如果建议被批准的话，建议人准备做什么、怎么做）</a:t>
            </a:r>
            <a:endParaRPr lang="zh-CN" altLang="de-DE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0" hangingPunct="0">
              <a:buFont typeface="Wingdings" pitchFamily="2" charset="2"/>
              <a:buChar char="l"/>
              <a:defRPr/>
            </a:pPr>
            <a:r>
              <a:rPr lang="zh-CN" altLang="de-DE" sz="1600" u="sng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附件（根据需要，一般与建议的依据有关）</a:t>
            </a:r>
            <a:endParaRPr lang="zh-CN" altLang="de-DE" sz="1600" u="sng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附件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附件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de-DE" sz="16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de-DE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3450" y="3204221"/>
            <a:ext cx="5035550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EEECA79-3871-7059-A489-4228C1EE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308920"/>
            <a:ext cx="11184244" cy="519080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分钟原则、倒置法、一页纸</a:t>
            </a:r>
          </a:p>
        </p:txBody>
      </p:sp>
    </p:spTree>
    <p:extLst>
      <p:ext uri="{BB962C8B-B14F-4D97-AF65-F5344CB8AC3E}">
        <p14:creationId xmlns:p14="http://schemas.microsoft.com/office/powerpoint/2010/main" val="364115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1598" y="900996"/>
            <a:ext cx="1714842" cy="1224887"/>
          </a:xfrm>
          <a:prstGeom prst="rect">
            <a:avLst/>
          </a:prstGeom>
        </p:spPr>
      </p:pic>
      <p:sp>
        <p:nvSpPr>
          <p:cNvPr id="10" name="Text Placeholder 4"/>
          <p:cNvSpPr txBox="1">
            <a:spLocks/>
          </p:cNvSpPr>
          <p:nvPr/>
        </p:nvSpPr>
        <p:spPr bwMode="auto">
          <a:xfrm>
            <a:off x="1375012" y="979703"/>
            <a:ext cx="7920000" cy="860163"/>
          </a:xfrm>
          <a:prstGeom prst="rect">
            <a:avLst/>
          </a:prstGeom>
          <a:solidFill>
            <a:srgbClr val="49788F">
              <a:alpha val="70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>
                <a:solidFill>
                  <a:srgbClr val="FFFF80"/>
                </a:solidFill>
                <a:latin typeface="微软雅黑" pitchFamily="34" charset="-122"/>
                <a:ea typeface="微软雅黑" pitchFamily="34" charset="-122"/>
              </a:rPr>
              <a:t>技巧</a:t>
            </a:r>
            <a:r>
              <a:rPr lang="en-US" altLang="zh-CN" dirty="0">
                <a:solidFill>
                  <a:srgbClr val="FFFF8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solidFill>
                  <a:srgbClr val="FFFF80"/>
                </a:solidFill>
                <a:latin typeface="微软雅黑" pitchFamily="34" charset="-122"/>
                <a:ea typeface="微软雅黑" pitchFamily="34" charset="-122"/>
              </a:rPr>
              <a:t>：给最直接相关的人</a:t>
            </a:r>
            <a:endParaRPr lang="en-US" altLang="zh-CN" dirty="0">
              <a:solidFill>
                <a:srgbClr val="FFFF8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dirty="0">
                <a:solidFill>
                  <a:srgbClr val="FFFF80"/>
                </a:solidFill>
                <a:latin typeface="微软雅黑" pitchFamily="34" charset="-122"/>
                <a:ea typeface="微软雅黑" pitchFamily="34" charset="-122"/>
              </a:rPr>
              <a:t>谨防漏斗效应，避免信息衰减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52172" y="2466565"/>
            <a:ext cx="3357348" cy="3632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525072" y="2006214"/>
            <a:ext cx="3600000" cy="2549208"/>
            <a:chOff x="3671240" y="2006214"/>
            <a:chExt cx="3600000" cy="2549208"/>
          </a:xfrm>
        </p:grpSpPr>
        <p:sp>
          <p:nvSpPr>
            <p:cNvPr id="11" name="圆柱形 10"/>
            <p:cNvSpPr/>
            <p:nvPr/>
          </p:nvSpPr>
          <p:spPr>
            <a:xfrm>
              <a:off x="4211240" y="3835422"/>
              <a:ext cx="2520000" cy="720000"/>
            </a:xfrm>
            <a:prstGeom prst="can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A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听懂的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8" name="圆柱形 7"/>
            <p:cNvSpPr/>
            <p:nvPr/>
          </p:nvSpPr>
          <p:spPr>
            <a:xfrm>
              <a:off x="4031240" y="3225686"/>
              <a:ext cx="2880000" cy="720000"/>
            </a:xfrm>
            <a:prstGeom prst="can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A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听到的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" name="圆柱形 1"/>
            <p:cNvSpPr/>
            <p:nvPr/>
          </p:nvSpPr>
          <p:spPr>
            <a:xfrm>
              <a:off x="3851240" y="2615950"/>
              <a:ext cx="3240000" cy="720000"/>
            </a:xfrm>
            <a:prstGeom prst="can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你说出来的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7" name="圆柱形 6"/>
            <p:cNvSpPr/>
            <p:nvPr/>
          </p:nvSpPr>
          <p:spPr>
            <a:xfrm>
              <a:off x="3671240" y="2006214"/>
              <a:ext cx="3600000" cy="720000"/>
            </a:xfrm>
            <a:prstGeom prst="can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你心里想的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056816" y="3698942"/>
            <a:ext cx="2520000" cy="2549210"/>
            <a:chOff x="7091240" y="3835422"/>
            <a:chExt cx="2520000" cy="2549210"/>
          </a:xfrm>
        </p:grpSpPr>
        <p:sp>
          <p:nvSpPr>
            <p:cNvPr id="15" name="圆柱形 14"/>
            <p:cNvSpPr/>
            <p:nvPr/>
          </p:nvSpPr>
          <p:spPr>
            <a:xfrm>
              <a:off x="7631240" y="5664632"/>
              <a:ext cx="1440000" cy="720000"/>
            </a:xfrm>
            <a:prstGeom prst="can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B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听懂的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4" name="圆柱形 13"/>
            <p:cNvSpPr/>
            <p:nvPr/>
          </p:nvSpPr>
          <p:spPr>
            <a:xfrm>
              <a:off x="7451240" y="5054894"/>
              <a:ext cx="1800000" cy="720000"/>
            </a:xfrm>
            <a:prstGeom prst="can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B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听到的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3" name="圆柱形 12"/>
            <p:cNvSpPr/>
            <p:nvPr/>
          </p:nvSpPr>
          <p:spPr>
            <a:xfrm>
              <a:off x="7271240" y="4445158"/>
              <a:ext cx="2160000" cy="720000"/>
            </a:xfrm>
            <a:prstGeom prst="can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A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说出来的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2" name="圆柱形 11"/>
            <p:cNvSpPr/>
            <p:nvPr/>
          </p:nvSpPr>
          <p:spPr>
            <a:xfrm>
              <a:off x="7091240" y="3835422"/>
              <a:ext cx="2520000" cy="720000"/>
            </a:xfrm>
            <a:prstGeom prst="can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A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心里想的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5722D91F-10B9-2E85-9FD8-FECC1CA9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274298"/>
            <a:ext cx="11184244" cy="55370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给最直接相关的人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3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819109"/>
            <a:ext cx="1714842" cy="1224887"/>
          </a:xfrm>
          <a:prstGeom prst="rect">
            <a:avLst/>
          </a:prstGeom>
        </p:spPr>
      </p:pic>
      <p:sp>
        <p:nvSpPr>
          <p:cNvPr id="8" name="Text Placeholder 4"/>
          <p:cNvSpPr txBox="1">
            <a:spLocks/>
          </p:cNvSpPr>
          <p:nvPr/>
        </p:nvSpPr>
        <p:spPr bwMode="auto">
          <a:xfrm>
            <a:off x="2698868" y="979702"/>
            <a:ext cx="7920000" cy="900000"/>
          </a:xfrm>
          <a:prstGeom prst="rect">
            <a:avLst/>
          </a:prstGeom>
          <a:solidFill>
            <a:srgbClr val="92D050">
              <a:alpha val="70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技巧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：图形优于表格，表格优于文字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33983" y="2020246"/>
            <a:ext cx="9866370" cy="3299901"/>
            <a:chOff x="470250" y="2043995"/>
            <a:chExt cx="8627960" cy="288570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0250" y="2043995"/>
              <a:ext cx="4313980" cy="288570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84230" y="2047128"/>
              <a:ext cx="4313980" cy="2879436"/>
            </a:xfrm>
            <a:prstGeom prst="rect">
              <a:avLst/>
            </a:prstGeom>
          </p:spPr>
        </p:pic>
      </p:grpSp>
      <p:sp>
        <p:nvSpPr>
          <p:cNvPr id="11" name="Text Placeholder 4"/>
          <p:cNvSpPr txBox="1">
            <a:spLocks/>
          </p:cNvSpPr>
          <p:nvPr/>
        </p:nvSpPr>
        <p:spPr bwMode="auto">
          <a:xfrm>
            <a:off x="1124968" y="5336684"/>
            <a:ext cx="9884403" cy="900000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8000" tIns="36000" rIns="108000" bIns="360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为什么说中国的房地产是宇宙中最重要的部门？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F68AEE-8374-2C85-E036-B6BC4E89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222422"/>
            <a:ext cx="11184244" cy="605577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图形优于表格，表格优于文字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865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72760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3"/>
          <p:cNvSpPr>
            <a:spLocks noGrp="1"/>
          </p:cNvSpPr>
          <p:nvPr>
            <p:ph type="title"/>
          </p:nvPr>
        </p:nvSpPr>
        <p:spPr>
          <a:xfrm>
            <a:off x="335756" y="296562"/>
            <a:ext cx="11184244" cy="531437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书面沟通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公文写作的价值＆目的</a:t>
            </a:r>
            <a:endParaRPr 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5054" y="975189"/>
            <a:ext cx="2364828" cy="553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93"/>
          <a:stretch/>
        </p:blipFill>
        <p:spPr>
          <a:xfrm>
            <a:off x="3289359" y="975189"/>
            <a:ext cx="7689303" cy="5503124"/>
          </a:xfrm>
          <a:prstGeom prst="rect">
            <a:avLst/>
          </a:prstGeom>
        </p:spPr>
      </p:pic>
      <p:sp>
        <p:nvSpPr>
          <p:cNvPr id="11" name="Text Placeholder 4"/>
          <p:cNvSpPr txBox="1">
            <a:spLocks/>
          </p:cNvSpPr>
          <p:nvPr/>
        </p:nvSpPr>
        <p:spPr bwMode="auto">
          <a:xfrm>
            <a:off x="4479979" y="1680938"/>
            <a:ext cx="5770278" cy="3209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理清思路（气态、液态、固态）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节省时间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减少信息混乱和谣言</a:t>
            </a:r>
          </a:p>
          <a:p>
            <a:pPr>
              <a:lnSpc>
                <a:spcPct val="100000"/>
              </a:lnSpc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7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哪种文体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文风适合在于职业化的工作环境？</a:t>
            </a:r>
          </a:p>
        </p:txBody>
      </p:sp>
      <p:pic>
        <p:nvPicPr>
          <p:cNvPr id="13" name="图片 3" descr="00101903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6466" y="2012197"/>
            <a:ext cx="4214812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2059534" y="1680351"/>
            <a:ext cx="4509689" cy="3984160"/>
            <a:chOff x="916533" y="2039701"/>
            <a:chExt cx="4509689" cy="3984160"/>
          </a:xfrm>
        </p:grpSpPr>
        <p:sp>
          <p:nvSpPr>
            <p:cNvPr id="14" name="TextBox 13"/>
            <p:cNvSpPr txBox="1"/>
            <p:nvPr/>
          </p:nvSpPr>
          <p:spPr>
            <a:xfrm>
              <a:off x="916533" y="2039701"/>
              <a:ext cx="2160000" cy="54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记叙文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6533" y="2900741"/>
              <a:ext cx="2160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说明文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6533" y="3761781"/>
              <a:ext cx="2160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latin typeface="微软雅黑" pitchFamily="34" charset="-122"/>
                  <a:ea typeface="微软雅黑" pitchFamily="34" charset="-122"/>
                </a:rPr>
                <a:t>议论文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6533" y="4622821"/>
              <a:ext cx="2160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散文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6533" y="5483861"/>
              <a:ext cx="2160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杂文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58055" y="3761781"/>
              <a:ext cx="2160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latin typeface="微软雅黑" pitchFamily="34" charset="-122"/>
                  <a:ea typeface="微软雅黑" pitchFamily="34" charset="-122"/>
                </a:rPr>
                <a:t>小说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66222" y="2039701"/>
              <a:ext cx="2160000" cy="54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戏剧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66222" y="2900741"/>
              <a:ext cx="2160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歌剧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58055" y="4622821"/>
              <a:ext cx="2160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zh-CN" altLang="en-US" sz="2400" b="1">
                  <a:latin typeface="微软雅黑" pitchFamily="34" charset="-122"/>
                  <a:ea typeface="微软雅黑" pitchFamily="34" charset="-122"/>
                </a:rPr>
                <a:t>网络文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58055" y="5483861"/>
              <a:ext cx="2160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………</a:t>
              </a:r>
              <a:endPara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8120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我们得推广一页纸的“职业文”</a:t>
            </a:r>
            <a:endParaRPr lang="zh-CN" altLang="en-US" b="0" i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Placeholder 4"/>
          <p:cNvSpPr txBox="1">
            <a:spLocks/>
          </p:cNvSpPr>
          <p:nvPr/>
        </p:nvSpPr>
        <p:spPr bwMode="auto">
          <a:xfrm>
            <a:off x="1674814" y="4108308"/>
            <a:ext cx="8840787" cy="172385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80000" tIns="72000" rIns="180000" bIns="720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“谁会有时间去阅读一大堆记不住的、乏味的战略规划书呢？你必须将你的战略思想压缩成只有一页纸长短的、有力的、实用的、可张贴的以及令人难忘的文字说明。”</a:t>
            </a:r>
            <a:endParaRPr lang="en-US" altLang="zh-CN" sz="1800">
              <a:latin typeface="微软雅黑" pitchFamily="34" charset="-122"/>
              <a:ea typeface="微软雅黑" pitchFamily="34" charset="-122"/>
            </a:endParaRPr>
          </a:p>
          <a:p>
            <a:pPr marL="0" indent="0" algn="r">
              <a:lnSpc>
                <a:spcPct val="200000"/>
              </a:lnSpc>
              <a:spcBef>
                <a:spcPts val="0"/>
              </a:spcBef>
            </a:pPr>
            <a:r>
              <a:rPr lang="en-US" altLang="zh-CN" sz="1800" i="1">
                <a:latin typeface="微软雅黑" pitchFamily="34" charset="-122"/>
                <a:ea typeface="微软雅黑" pitchFamily="34" charset="-122"/>
              </a:rPr>
              <a:t>——《</a:t>
            </a:r>
            <a:r>
              <a:rPr lang="zh-CN" altLang="en-US" sz="1800" i="1">
                <a:latin typeface="微软雅黑" pitchFamily="34" charset="-122"/>
                <a:ea typeface="微软雅黑" pitchFamily="34" charset="-122"/>
              </a:rPr>
              <a:t>掌握洛克菲勒的习惯</a:t>
            </a:r>
            <a:r>
              <a:rPr lang="en-US" altLang="zh-CN" sz="1800" i="1">
                <a:latin typeface="微软雅黑" pitchFamily="34" charset="-122"/>
                <a:ea typeface="微软雅黑" pitchFamily="34" charset="-122"/>
              </a:rPr>
              <a:t>》</a:t>
            </a:r>
            <a:endParaRPr lang="en-US" sz="1800" i="1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5" descr="PPT-01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19968" y="1499672"/>
            <a:ext cx="4159155" cy="23558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578148" y="1553283"/>
            <a:ext cx="2520000" cy="720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建议文</a:t>
            </a:r>
            <a:endParaRPr lang="zh-CN" altLang="en-US" sz="2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78148" y="2350178"/>
            <a:ext cx="2520000" cy="720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分析文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148" y="3147073"/>
            <a:ext cx="2520000" cy="72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信息文</a:t>
            </a:r>
          </a:p>
        </p:txBody>
      </p:sp>
    </p:spTree>
    <p:extLst>
      <p:ext uri="{BB962C8B-B14F-4D97-AF65-F5344CB8AC3E}">
        <p14:creationId xmlns:p14="http://schemas.microsoft.com/office/powerpoint/2010/main" val="298915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标准格式</a:t>
            </a:r>
            <a:r>
              <a:rPr lang="zh-CN" altLang="en-US" b="0" i="1">
                <a:latin typeface="微软雅黑" pitchFamily="34" charset="-122"/>
                <a:ea typeface="微软雅黑" pitchFamily="34" charset="-122"/>
              </a:rPr>
              <a:t>（建议型及分析型）</a:t>
            </a:r>
          </a:p>
        </p:txBody>
      </p:sp>
      <p:sp>
        <p:nvSpPr>
          <p:cNvPr id="5" name="矩形 4"/>
          <p:cNvSpPr/>
          <p:nvPr/>
        </p:nvSpPr>
        <p:spPr>
          <a:xfrm>
            <a:off x="2009348" y="1588297"/>
            <a:ext cx="3960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分析型公文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09348" y="2405765"/>
            <a:ext cx="3960000" cy="3600000"/>
          </a:xfrm>
          <a:prstGeom prst="rect">
            <a:avLst/>
          </a:prstGeom>
          <a:solidFill>
            <a:schemeClr val="accent5">
              <a:lumMod val="20000"/>
              <a:lumOff val="80000"/>
              <a:alpha val="99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72000" tIns="108000" rIns="72000" bIns="108000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致、抄送、发自、日期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主题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开篇段落</a:t>
            </a:r>
            <a:r>
              <a:rPr lang="en-US" altLang="zh-CN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结论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发现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做出结论的依据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根据需要：细节</a:t>
            </a:r>
            <a:r>
              <a:rPr lang="en-US" altLang="zh-CN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讨论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 font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意味的行动（若认同此结论）</a:t>
            </a:r>
          </a:p>
          <a:p>
            <a:pPr marL="457200" indent="-457200" font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根据需要：附件	</a:t>
            </a:r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40966" y="1588297"/>
            <a:ext cx="3960000" cy="7200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建议型公文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40966" y="2405765"/>
            <a:ext cx="3960000" cy="3600000"/>
          </a:xfrm>
          <a:prstGeom prst="rect">
            <a:avLst/>
          </a:prstGeom>
          <a:solidFill>
            <a:schemeClr val="accent5">
              <a:lumMod val="20000"/>
              <a:lumOff val="80000"/>
              <a:alpha val="99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72000" tIns="108000" rIns="72000" bIns="108000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致、抄送、发自、日期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主题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开篇段落</a:t>
            </a:r>
            <a:r>
              <a:rPr lang="en-US" altLang="zh-CN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建议的依据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理由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根据需要：细节</a:t>
            </a:r>
            <a:r>
              <a:rPr lang="en-US" altLang="zh-CN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讨论</a:t>
            </a:r>
            <a:endParaRPr lang="en-US" altLang="zh-CN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 fontAlgn="ctr">
              <a:lnSpc>
                <a:spcPct val="150000"/>
              </a:lnSpc>
              <a:buFont typeface="+mj-lt"/>
              <a:buAutoNum type="arabicPeriod"/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下一步行动（若同意此建议）</a:t>
            </a:r>
            <a:endParaRPr lang="en-US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 font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根据需要：附件</a:t>
            </a:r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endParaRPr lang="zh-CN" altLang="en-US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5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用语规范</a:t>
            </a:r>
          </a:p>
        </p:txBody>
      </p:sp>
      <p:sp>
        <p:nvSpPr>
          <p:cNvPr id="2" name="矩形 1"/>
          <p:cNvSpPr/>
          <p:nvPr/>
        </p:nvSpPr>
        <p:spPr>
          <a:xfrm>
            <a:off x="2582552" y="1678675"/>
            <a:ext cx="2160000" cy="72000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简单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simple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582552" y="2825087"/>
            <a:ext cx="2160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清晰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clearly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82552" y="3971499"/>
            <a:ext cx="2160000" cy="720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规范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standard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582552" y="5117910"/>
            <a:ext cx="2160000" cy="7200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得体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suitable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783496" y="1678675"/>
            <a:ext cx="476834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简单的语言、简短的句子</a:t>
            </a:r>
          </a:p>
        </p:txBody>
      </p:sp>
      <p:sp>
        <p:nvSpPr>
          <p:cNvPr id="34" name="矩形 33"/>
          <p:cNvSpPr/>
          <p:nvPr/>
        </p:nvSpPr>
        <p:spPr>
          <a:xfrm>
            <a:off x="4783496" y="2825087"/>
            <a:ext cx="476834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避免使用可能引起误解的模糊词句</a:t>
            </a:r>
          </a:p>
        </p:txBody>
      </p:sp>
      <p:sp>
        <p:nvSpPr>
          <p:cNvPr id="35" name="矩形 34"/>
          <p:cNvSpPr/>
          <p:nvPr/>
        </p:nvSpPr>
        <p:spPr>
          <a:xfrm>
            <a:off x="4783496" y="3971499"/>
            <a:ext cx="476834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避免使用方言土语、网络语言</a:t>
            </a:r>
          </a:p>
        </p:txBody>
      </p:sp>
      <p:sp>
        <p:nvSpPr>
          <p:cNvPr id="36" name="矩形 35"/>
          <p:cNvSpPr/>
          <p:nvPr/>
        </p:nvSpPr>
        <p:spPr>
          <a:xfrm>
            <a:off x="4783496" y="5117910"/>
            <a:ext cx="476834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针对不同受众，注意用词和语境</a:t>
            </a:r>
          </a:p>
        </p:txBody>
      </p:sp>
    </p:spTree>
    <p:extLst>
      <p:ext uri="{BB962C8B-B14F-4D97-AF65-F5344CB8AC3E}">
        <p14:creationId xmlns:p14="http://schemas.microsoft.com/office/powerpoint/2010/main" val="182824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49736" y="1521531"/>
            <a:ext cx="8967029" cy="42447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0488" tIns="44450" rIns="90488" bIns="44450">
            <a:spAutoFit/>
          </a:bodyPr>
          <a:lstStyle>
            <a:lvl1pPr marL="342900" indent="-342900" algn="l" rtl="0" fontAlgn="base">
              <a:lnSpc>
                <a:spcPct val="93000"/>
              </a:lnSpc>
              <a:spcBef>
                <a:spcPts val="25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30188" indent="-230188" algn="l" rtl="0" fontAlgn="base">
              <a:lnSpc>
                <a:spcPct val="93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481013" indent="-233363" algn="l" rtl="0" fontAlgn="base">
              <a:lnSpc>
                <a:spcPct val="93000"/>
              </a:lnSpc>
              <a:spcBef>
                <a:spcPts val="38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696913" indent="-200025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-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696913" indent="1131888" algn="l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defRPr sz="20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本文就某次会议的原则性的、非具体的结论做了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探讨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关于双方合作的其它可能方式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某次会议达成的一致意见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的背景信息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确认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您同意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答复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管理层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通知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您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323850" indent="-323850">
              <a:lnSpc>
                <a:spcPct val="150000"/>
              </a:lnSpc>
              <a:buFontTx/>
              <a:buAutoNum type="arabicPeriod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本文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1662" y="2325577"/>
            <a:ext cx="3414158" cy="340647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在第一句话中使用精确的动词是简单直接的重要保证</a:t>
            </a:r>
          </a:p>
        </p:txBody>
      </p:sp>
    </p:spTree>
    <p:extLst>
      <p:ext uri="{BB962C8B-B14F-4D97-AF65-F5344CB8AC3E}">
        <p14:creationId xmlns:p14="http://schemas.microsoft.com/office/powerpoint/2010/main" val="287635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552869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5175" y="1218236"/>
            <a:ext cx="5995113" cy="4496335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064589" y="954546"/>
            <a:ext cx="2160000" cy="72000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分享信息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64589" y="2035071"/>
            <a:ext cx="2160000" cy="7200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讨论分析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064589" y="3115596"/>
            <a:ext cx="2160000" cy="72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形成决议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064589" y="4196121"/>
            <a:ext cx="2160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达成共识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64589" y="5276647"/>
            <a:ext cx="2160000" cy="720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激励士气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2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警惕成为这样的“会议杀手”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056046" y="4034563"/>
            <a:ext cx="1800000" cy="1872000"/>
            <a:chOff x="7312752" y="3971499"/>
            <a:chExt cx="1800000" cy="1872000"/>
          </a:xfrm>
        </p:grpSpPr>
        <p:sp>
          <p:nvSpPr>
            <p:cNvPr id="11" name="矩形 10"/>
            <p:cNvSpPr/>
            <p:nvPr/>
          </p:nvSpPr>
          <p:spPr>
            <a:xfrm>
              <a:off x="7312752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螃蟹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58" name="Picture 2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7115" y="3971499"/>
              <a:ext cx="1691275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6" name="组合 15"/>
          <p:cNvGrpSpPr/>
          <p:nvPr/>
        </p:nvGrpSpPr>
        <p:grpSpPr>
          <a:xfrm>
            <a:off x="2314377" y="1802875"/>
            <a:ext cx="1800000" cy="1872000"/>
            <a:chOff x="1564493" y="1456023"/>
            <a:chExt cx="1800000" cy="1872000"/>
          </a:xfrm>
        </p:grpSpPr>
        <p:sp>
          <p:nvSpPr>
            <p:cNvPr id="5" name="矩形 4"/>
            <p:cNvSpPr/>
            <p:nvPr/>
          </p:nvSpPr>
          <p:spPr>
            <a:xfrm>
              <a:off x="1564493" y="2896023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鹦鹉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0" name="Picture 4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611" y="1456023"/>
              <a:ext cx="1219765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" name="组合 3"/>
          <p:cNvGrpSpPr/>
          <p:nvPr/>
        </p:nvGrpSpPr>
        <p:grpSpPr>
          <a:xfrm>
            <a:off x="2297577" y="4034563"/>
            <a:ext cx="1833600" cy="1872000"/>
            <a:chOff x="1602752" y="3971499"/>
            <a:chExt cx="1833600" cy="1872000"/>
          </a:xfrm>
        </p:grpSpPr>
        <p:sp>
          <p:nvSpPr>
            <p:cNvPr id="8" name="矩形 7"/>
            <p:cNvSpPr/>
            <p:nvPr/>
          </p:nvSpPr>
          <p:spPr>
            <a:xfrm>
              <a:off x="1619552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鲨鱼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2752" y="3971499"/>
              <a:ext cx="1833600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5" name="组合 14"/>
          <p:cNvGrpSpPr/>
          <p:nvPr/>
        </p:nvGrpSpPr>
        <p:grpSpPr>
          <a:xfrm>
            <a:off x="5176811" y="1802875"/>
            <a:ext cx="1800000" cy="1872000"/>
            <a:chOff x="4471933" y="1456023"/>
            <a:chExt cx="1800000" cy="1872000"/>
          </a:xfrm>
        </p:grpSpPr>
        <p:sp>
          <p:nvSpPr>
            <p:cNvPr id="10" name="矩形 9"/>
            <p:cNvSpPr/>
            <p:nvPr/>
          </p:nvSpPr>
          <p:spPr>
            <a:xfrm>
              <a:off x="4471933" y="2896023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驴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2" name="Picture 6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9452" y="1456023"/>
              <a:ext cx="1484963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" name="组合 13"/>
          <p:cNvGrpSpPr/>
          <p:nvPr/>
        </p:nvGrpSpPr>
        <p:grpSpPr>
          <a:xfrm>
            <a:off x="8056046" y="1802875"/>
            <a:ext cx="1800000" cy="1872000"/>
            <a:chOff x="7322962" y="1385087"/>
            <a:chExt cx="1800000" cy="1872000"/>
          </a:xfrm>
        </p:grpSpPr>
        <p:sp>
          <p:nvSpPr>
            <p:cNvPr id="9" name="矩形 8"/>
            <p:cNvSpPr/>
            <p:nvPr/>
          </p:nvSpPr>
          <p:spPr>
            <a:xfrm>
              <a:off x="7322962" y="2825087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兔子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3" name="Picture 7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331" y="1385087"/>
              <a:ext cx="1323262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" name="组合 11"/>
          <p:cNvGrpSpPr/>
          <p:nvPr/>
        </p:nvGrpSpPr>
        <p:grpSpPr>
          <a:xfrm>
            <a:off x="5176811" y="4034563"/>
            <a:ext cx="1800000" cy="1872000"/>
            <a:chOff x="4300776" y="3971499"/>
            <a:chExt cx="1800000" cy="1872000"/>
          </a:xfrm>
        </p:grpSpPr>
        <p:sp>
          <p:nvSpPr>
            <p:cNvPr id="7" name="矩形 6"/>
            <p:cNvSpPr/>
            <p:nvPr/>
          </p:nvSpPr>
          <p:spPr>
            <a:xfrm>
              <a:off x="4300776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蝉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5" name="Picture 9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3091" y="3971499"/>
              <a:ext cx="755370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521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635101" y="2444045"/>
            <a:ext cx="1800000" cy="1872000"/>
            <a:chOff x="1564493" y="1456023"/>
            <a:chExt cx="1800000" cy="1872000"/>
          </a:xfrm>
        </p:grpSpPr>
        <p:sp>
          <p:nvSpPr>
            <p:cNvPr id="5" name="矩形 4"/>
            <p:cNvSpPr/>
            <p:nvPr/>
          </p:nvSpPr>
          <p:spPr>
            <a:xfrm>
              <a:off x="1564493" y="2896023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鹦鹉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21860" name="Picture 4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611" y="1456023"/>
              <a:ext cx="1219765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人云亦云；上级说啥也跟着说啥；巧舌如簧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可能是能力不足，确实没有真知灼见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更可怕的是“关系导向”，而非“原则导向”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警惕“高水平”的人云亦云，例如：总结式的重复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警惕添油加醋、过多个人感受、夸张的表达</a:t>
            </a:r>
          </a:p>
        </p:txBody>
      </p:sp>
    </p:spTree>
    <p:extLst>
      <p:ext uri="{BB962C8B-B14F-4D97-AF65-F5344CB8AC3E}">
        <p14:creationId xmlns:p14="http://schemas.microsoft.com/office/powerpoint/2010/main" val="43422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过于敏感，防卫心理很强，心中有面“墙”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急于划清界限，撇清责任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急于做不必要的解释，甚至打断对方发言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过于在乎自己个人感受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格局不够开放，不能站在对方的角度看待问题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36200" y="2444400"/>
            <a:ext cx="1800000" cy="1872000"/>
            <a:chOff x="4471933" y="1456023"/>
            <a:chExt cx="1800000" cy="1872000"/>
          </a:xfrm>
        </p:grpSpPr>
        <p:sp>
          <p:nvSpPr>
            <p:cNvPr id="12" name="矩形 11"/>
            <p:cNvSpPr/>
            <p:nvPr/>
          </p:nvSpPr>
          <p:spPr>
            <a:xfrm>
              <a:off x="4471933" y="2896023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驴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3" name="Picture 6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9452" y="1456023"/>
              <a:ext cx="1484963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983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思维过度跳跃，心中有堆“杂草”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质疑会议的程序，不断提议不同的程序和建议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将大家带入一个思路，还未深入又切换到另一个思路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未经过有一定质量的思考，就草率判断和下结论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轻易否定和轻易肯定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636200" y="2444400"/>
            <a:ext cx="1800000" cy="1872000"/>
            <a:chOff x="7322962" y="1385087"/>
            <a:chExt cx="1800000" cy="1872000"/>
          </a:xfrm>
        </p:grpSpPr>
        <p:sp>
          <p:nvSpPr>
            <p:cNvPr id="15" name="矩形 14"/>
            <p:cNvSpPr/>
            <p:nvPr/>
          </p:nvSpPr>
          <p:spPr>
            <a:xfrm>
              <a:off x="7322962" y="2825087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兔子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6" name="Picture 7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331" y="1385087"/>
              <a:ext cx="1323262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66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嘴中有利齿，脸色冷峻，有攻击倾向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不就事论事，而简单粗暴的对人进行批判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总是给出消极、否定的态度和意见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经常以质问、挑剔和命令的口吻沟通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举着“大俗即大雅”的旗号，粗暴、辱骂、脏话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36200" y="2444400"/>
            <a:ext cx="1833600" cy="1872000"/>
            <a:chOff x="1602752" y="3971499"/>
            <a:chExt cx="1833600" cy="1872000"/>
          </a:xfrm>
        </p:grpSpPr>
        <p:sp>
          <p:nvSpPr>
            <p:cNvPr id="12" name="矩形 11"/>
            <p:cNvSpPr/>
            <p:nvPr/>
          </p:nvSpPr>
          <p:spPr>
            <a:xfrm>
              <a:off x="1619552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鲨鱼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2752" y="3971499"/>
              <a:ext cx="1833600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5746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没完没了的表述价值不大的信息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讲了半天铺垫信息，很长时间才进入正题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繁冗的推导、分析之后，才给出结论和建议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讲得太模糊，模棱两可，让人有歧义，容易误解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“知了知了”，拒绝倾听别人的主要观点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636200" y="2444400"/>
            <a:ext cx="1800000" cy="1872000"/>
            <a:chOff x="4300776" y="3971499"/>
            <a:chExt cx="1800000" cy="1872000"/>
          </a:xfrm>
        </p:grpSpPr>
        <p:sp>
          <p:nvSpPr>
            <p:cNvPr id="15" name="矩形 14"/>
            <p:cNvSpPr/>
            <p:nvPr/>
          </p:nvSpPr>
          <p:spPr>
            <a:xfrm>
              <a:off x="4300776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蝉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6" name="Picture 9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3091" y="3971499"/>
              <a:ext cx="755370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605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884872" y="10821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跑题大王，偏离讨论目的</a:t>
            </a:r>
          </a:p>
        </p:txBody>
      </p:sp>
      <p:sp>
        <p:nvSpPr>
          <p:cNvPr id="24" name="矩形 23"/>
          <p:cNvSpPr/>
          <p:nvPr/>
        </p:nvSpPr>
        <p:spPr>
          <a:xfrm>
            <a:off x="3884872" y="21347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心不在焉，不积极参与会议，左顾右盼</a:t>
            </a:r>
          </a:p>
        </p:txBody>
      </p:sp>
      <p:sp>
        <p:nvSpPr>
          <p:cNvPr id="25" name="矩形 24"/>
          <p:cNvSpPr/>
          <p:nvPr/>
        </p:nvSpPr>
        <p:spPr>
          <a:xfrm>
            <a:off x="3884872" y="318729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开会时一并做其他与会议无关的其他工作</a:t>
            </a:r>
          </a:p>
        </p:txBody>
      </p:sp>
      <p:sp>
        <p:nvSpPr>
          <p:cNvPr id="26" name="矩形 25"/>
          <p:cNvSpPr/>
          <p:nvPr/>
        </p:nvSpPr>
        <p:spPr>
          <a:xfrm>
            <a:off x="3884872" y="4239842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开小会</a:t>
            </a:r>
          </a:p>
        </p:txBody>
      </p:sp>
      <p:sp>
        <p:nvSpPr>
          <p:cNvPr id="27" name="矩形 26"/>
          <p:cNvSpPr/>
          <p:nvPr/>
        </p:nvSpPr>
        <p:spPr>
          <a:xfrm>
            <a:off x="3884872" y="5292390"/>
            <a:ext cx="6622856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瞌睡，频繁接听电话，玩手机，转笔</a:t>
            </a: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……</a:t>
            </a:r>
            <a:endParaRPr lang="zh-CN" altLang="en-US" sz="20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36200" y="2444400"/>
            <a:ext cx="1800000" cy="1872000"/>
            <a:chOff x="7312752" y="3971499"/>
            <a:chExt cx="1800000" cy="1872000"/>
          </a:xfrm>
        </p:grpSpPr>
        <p:sp>
          <p:nvSpPr>
            <p:cNvPr id="12" name="矩形 11"/>
            <p:cNvSpPr/>
            <p:nvPr/>
          </p:nvSpPr>
          <p:spPr>
            <a:xfrm>
              <a:off x="7312752" y="5411499"/>
              <a:ext cx="1800000" cy="43200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螃蟹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7115" y="3971499"/>
              <a:ext cx="1691275" cy="14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638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706017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8174" y="1139085"/>
            <a:ext cx="901905" cy="8892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682" y="750627"/>
            <a:ext cx="2159935" cy="55546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39616" y="2489052"/>
            <a:ext cx="2160000" cy="72000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即时性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39681" y="3737824"/>
            <a:ext cx="2160000" cy="7200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平等性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39681" y="4986596"/>
            <a:ext cx="2160000" cy="720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正式性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745792" y="1116554"/>
            <a:ext cx="3074286" cy="933333"/>
            <a:chOff x="1435320" y="1212089"/>
            <a:chExt cx="3074286" cy="93333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95320" y="1212089"/>
              <a:ext cx="914286" cy="933333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1435320" y="1318755"/>
              <a:ext cx="2160000" cy="7200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……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419154" y="1117486"/>
            <a:ext cx="3102018" cy="932400"/>
            <a:chOff x="5989546" y="1215073"/>
            <a:chExt cx="3102018" cy="932400"/>
          </a:xfrm>
        </p:grpSpPr>
        <p:pic>
          <p:nvPicPr>
            <p:cNvPr id="122882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9546" y="1215073"/>
              <a:ext cx="895204" cy="93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矩形 12"/>
            <p:cNvSpPr/>
            <p:nvPr/>
          </p:nvSpPr>
          <p:spPr>
            <a:xfrm>
              <a:off x="6931564" y="1321273"/>
              <a:ext cx="2160000" cy="7200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eMail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3809" y="2309052"/>
            <a:ext cx="1058255" cy="1080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2916" y="2309052"/>
            <a:ext cx="1094497" cy="1080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3809" y="3557824"/>
            <a:ext cx="1058255" cy="10800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2916" y="3557824"/>
            <a:ext cx="1094497" cy="108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1037" y="4806596"/>
            <a:ext cx="1058255" cy="1080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5688" y="4806596"/>
            <a:ext cx="109449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7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367975" y="881428"/>
            <a:ext cx="4577351" cy="933334"/>
            <a:chOff x="618554" y="2048112"/>
            <a:chExt cx="4577351" cy="93333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4" y="2048112"/>
              <a:ext cx="914286" cy="933334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1595905" y="2118779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**，在吗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?</a:t>
              </a:r>
              <a:endPara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367974" y="1996280"/>
            <a:ext cx="4577350" cy="933333"/>
            <a:chOff x="618555" y="3444911"/>
            <a:chExt cx="4577350" cy="93333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在的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367975" y="3111129"/>
            <a:ext cx="4577351" cy="933334"/>
            <a:chOff x="618554" y="2048112"/>
            <a:chExt cx="4577351" cy="933334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4" y="2048112"/>
              <a:ext cx="914286" cy="933334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1595905" y="2118779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有件事情想麻烦你，可以吗？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367974" y="4225982"/>
            <a:ext cx="4577350" cy="933333"/>
            <a:chOff x="618555" y="3444911"/>
            <a:chExt cx="4577350" cy="933333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你说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367975" y="5292085"/>
            <a:ext cx="4577351" cy="933334"/>
            <a:chOff x="618554" y="2048112"/>
            <a:chExt cx="4577351" cy="933334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4" y="2048112"/>
              <a:ext cx="914286" cy="933334"/>
            </a:xfrm>
            <a:prstGeom prst="rect">
              <a:avLst/>
            </a:prstGeom>
          </p:spPr>
        </p:pic>
        <p:sp>
          <p:nvSpPr>
            <p:cNvPr id="34" name="矩形 33"/>
            <p:cNvSpPr/>
            <p:nvPr/>
          </p:nvSpPr>
          <p:spPr>
            <a:xfrm>
              <a:off x="1595905" y="2118779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这次培训，有门课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255286" y="881429"/>
            <a:ext cx="4577350" cy="933333"/>
            <a:chOff x="618555" y="3444911"/>
            <a:chExt cx="4577350" cy="933333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时间是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8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月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12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日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255287" y="1996279"/>
            <a:ext cx="4577351" cy="933334"/>
            <a:chOff x="618554" y="2048112"/>
            <a:chExt cx="4577351" cy="933334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4" y="2048112"/>
              <a:ext cx="914286" cy="933334"/>
            </a:xfrm>
            <a:prstGeom prst="rect">
              <a:avLst/>
            </a:prstGeom>
          </p:spPr>
        </p:pic>
        <p:sp>
          <p:nvSpPr>
            <p:cNvPr id="40" name="矩形 39"/>
            <p:cNvSpPr/>
            <p:nvPr/>
          </p:nvSpPr>
          <p:spPr>
            <a:xfrm>
              <a:off x="1595905" y="2118779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地点是成都公司培训室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55286" y="3111130"/>
            <a:ext cx="4577350" cy="933333"/>
            <a:chOff x="618555" y="3444911"/>
            <a:chExt cx="4577350" cy="933333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43" name="矩形 42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从早上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9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点讲到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12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点半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255286" y="4225982"/>
            <a:ext cx="4577350" cy="933333"/>
            <a:chOff x="618555" y="3444911"/>
            <a:chExt cx="4577350" cy="933333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需要我做什么？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255286" y="5292086"/>
            <a:ext cx="4577350" cy="933333"/>
            <a:chOff x="618555" y="3444911"/>
            <a:chExt cx="4577350" cy="93333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1595905" y="3515577"/>
              <a:ext cx="360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哦，想邀请你做讲师</a:t>
              </a:r>
            </a:p>
          </p:txBody>
        </p:sp>
      </p:grpSp>
      <p:pic>
        <p:nvPicPr>
          <p:cNvPr id="123904" name="图片 12390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0370" y1="30370" x2="30370" y2="30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039" y="1133660"/>
            <a:ext cx="1714286" cy="1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5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3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3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7580" y="4138904"/>
            <a:ext cx="2160000" cy="2160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620231" y="1256113"/>
            <a:ext cx="8897351" cy="1654667"/>
            <a:chOff x="477230" y="1256112"/>
            <a:chExt cx="8897351" cy="1654667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7230" y="1256112"/>
              <a:ext cx="914286" cy="933334"/>
            </a:xfrm>
            <a:prstGeom prst="rect">
              <a:avLst/>
            </a:prstGeom>
          </p:spPr>
        </p:pic>
        <p:sp>
          <p:nvSpPr>
            <p:cNvPr id="52" name="矩形 51"/>
            <p:cNvSpPr/>
            <p:nvPr/>
          </p:nvSpPr>
          <p:spPr>
            <a:xfrm>
              <a:off x="1454581" y="1326779"/>
              <a:ext cx="7920000" cy="158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**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，我们想邀请你担任培训的培训讲师，时间是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8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月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12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日上午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9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点到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12</a:t>
              </a:r>
              <a:r>
                <a:rPr lang="zh-CN" altLang="en-US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点，地点是成都公司培训室，你有时间吗？谢谢！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620230" y="3334579"/>
            <a:ext cx="8897350" cy="933333"/>
            <a:chOff x="618555" y="3444911"/>
            <a:chExt cx="8897350" cy="933333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55" name="矩形 54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好的，乐意效劳。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336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1635996" y="1918532"/>
            <a:ext cx="8897350" cy="933333"/>
            <a:chOff x="618555" y="3444911"/>
            <a:chExt cx="8897350" cy="933333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55" name="矩形 54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请说。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35997" y="909260"/>
            <a:ext cx="8897351" cy="933334"/>
            <a:chOff x="477230" y="1256112"/>
            <a:chExt cx="8897351" cy="93333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7230" y="1256112"/>
              <a:ext cx="914286" cy="933334"/>
            </a:xfrm>
            <a:prstGeom prst="rect">
              <a:avLst/>
            </a:prstGeom>
          </p:spPr>
        </p:pic>
        <p:sp>
          <p:nvSpPr>
            <p:cNvPr id="52" name="矩形 51"/>
            <p:cNvSpPr/>
            <p:nvPr/>
          </p:nvSpPr>
          <p:spPr>
            <a:xfrm>
              <a:off x="1454581" y="1326779"/>
              <a:ext cx="792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*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总，您有时间吗？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635997" y="2927802"/>
            <a:ext cx="8897351" cy="1258667"/>
            <a:chOff x="477230" y="1256112"/>
            <a:chExt cx="8897351" cy="125866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7230" y="1256112"/>
              <a:ext cx="914286" cy="933334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454581" y="1326779"/>
              <a:ext cx="7920000" cy="118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这是我写的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……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，如果不是很麻烦的话，您周末百忙之中抽点空看看，写的不妥的地方请您批判指正。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0370" y1="30370" x2="30370" y2="30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7444" y="1061388"/>
            <a:ext cx="1714286" cy="1714286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635997" y="4886618"/>
            <a:ext cx="8897351" cy="933334"/>
            <a:chOff x="477230" y="1256112"/>
            <a:chExt cx="8897351" cy="93333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7230" y="1256112"/>
              <a:ext cx="914286" cy="933334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1454581" y="1326779"/>
              <a:ext cx="792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*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*，这是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……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。请您在星期一中午前给我反馈意见，谢谢！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9991" y="4162923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683301" y="925509"/>
            <a:ext cx="8897351" cy="933334"/>
            <a:chOff x="618554" y="2048112"/>
            <a:chExt cx="8897351" cy="93333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4" y="2048112"/>
              <a:ext cx="914286" cy="933334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1595905" y="2118779"/>
              <a:ext cx="7920000" cy="79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各位，有关本年度仕官生培训，我计划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……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，请各位确认。谢谢！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683300" y="2004655"/>
            <a:ext cx="8897350" cy="933333"/>
            <a:chOff x="618555" y="3444911"/>
            <a:chExt cx="8897350" cy="93333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拟同意。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83300" y="3083799"/>
            <a:ext cx="8897350" cy="933333"/>
            <a:chOff x="618555" y="3444911"/>
            <a:chExt cx="8897350" cy="933333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转</a:t>
              </a:r>
              <a:r>
                <a:rPr lang="en-US" altLang="zh-CN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……</a:t>
              </a:r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阅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683300" y="4162943"/>
            <a:ext cx="8897350" cy="933333"/>
            <a:chOff x="618555" y="3444911"/>
            <a:chExt cx="8897350" cy="933333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已阅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683300" y="5242086"/>
            <a:ext cx="8897350" cy="933333"/>
            <a:chOff x="618555" y="3444911"/>
            <a:chExt cx="8897350" cy="933333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555" y="3444911"/>
              <a:ext cx="914286" cy="933333"/>
            </a:xfrm>
            <a:prstGeom prst="rect">
              <a:avLst/>
            </a:prstGeom>
          </p:spPr>
        </p:pic>
        <p:sp>
          <p:nvSpPr>
            <p:cNvPr id="27" name="矩形 26"/>
            <p:cNvSpPr/>
            <p:nvPr/>
          </p:nvSpPr>
          <p:spPr>
            <a:xfrm>
              <a:off x="1595905" y="3515577"/>
              <a:ext cx="7920000" cy="79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144000" tIns="0" rIns="144000" bIns="0" rtlCol="0" anchor="ctr"/>
            <a:lstStyle/>
            <a:p>
              <a:r>
                <a:rPr lang="zh-CN" altLang="en-US"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好的，我确认没问题。</a:t>
              </a: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0370" y1="30370" x2="30370" y2="30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3619" y="2471320"/>
            <a:ext cx="2160000" cy="2160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9991" y="5048977"/>
            <a:ext cx="1526202" cy="152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8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利用公共网络平台进行内部沟通</a:t>
            </a:r>
          </a:p>
        </p:txBody>
      </p:sp>
      <p:pic>
        <p:nvPicPr>
          <p:cNvPr id="121860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79308" y="1542497"/>
            <a:ext cx="3657602" cy="44843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7428" y="1541213"/>
            <a:ext cx="3657600" cy="4485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8688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59533" y="3676189"/>
            <a:ext cx="8320944" cy="720000"/>
            <a:chOff x="916533" y="3418620"/>
            <a:chExt cx="8320944" cy="720000"/>
          </a:xfrm>
        </p:grpSpPr>
        <p:sp>
          <p:nvSpPr>
            <p:cNvPr id="7" name="矩形 6"/>
            <p:cNvSpPr/>
            <p:nvPr/>
          </p:nvSpPr>
          <p:spPr>
            <a:xfrm>
              <a:off x="916533" y="3418620"/>
              <a:ext cx="2160000" cy="7200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Note1</a:t>
              </a:r>
              <a:endPara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117477" y="3418620"/>
              <a:ext cx="6120000" cy="7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zh-CN" altLang="en-US"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  对外沟通不能生搬硬套这些做法！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59533" y="4660573"/>
            <a:ext cx="8320944" cy="720000"/>
            <a:chOff x="916533" y="4769757"/>
            <a:chExt cx="8320944" cy="720000"/>
          </a:xfrm>
        </p:grpSpPr>
        <p:sp>
          <p:nvSpPr>
            <p:cNvPr id="9" name="矩形 8"/>
            <p:cNvSpPr/>
            <p:nvPr/>
          </p:nvSpPr>
          <p:spPr>
            <a:xfrm>
              <a:off x="916533" y="4769757"/>
              <a:ext cx="2160000" cy="72000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Note2</a:t>
              </a:r>
              <a:endPara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117477" y="4769757"/>
              <a:ext cx="6120000" cy="7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zh-CN" altLang="en-US"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Arial" pitchFamily="34" charset="0"/>
                </a:rPr>
                <a:t>  特殊目的的沟通不能生搬硬套！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7148" y="1126091"/>
            <a:ext cx="2285714" cy="22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438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对于不同情境的沟通，员工要有一定的自我调节能力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761613" y="1727201"/>
            <a:ext cx="4759325" cy="4498975"/>
            <a:chOff x="2618612" y="1727200"/>
            <a:chExt cx="4759325" cy="4498975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2618612" y="1727200"/>
              <a:ext cx="4759325" cy="4498975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2996903" y="5524500"/>
              <a:ext cx="39960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lIns="0" tIns="0" rIns="0" bIns="0" anchor="ctr"/>
            <a:lstStyle/>
            <a:p>
              <a:endParaRPr lang="zh-CN" altLang="en-US" sz="1400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V="1">
              <a:off x="3843508" y="3940655"/>
              <a:ext cx="2304000" cy="158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lIns="0" tIns="0" rIns="0" bIns="0" anchor="ctr"/>
            <a:lstStyle/>
            <a:p>
              <a:endParaRPr lang="zh-CN" altLang="en-US" sz="1400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3162331" y="5632849"/>
              <a:ext cx="3671887" cy="52969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与部门内部同事沟通</a:t>
              </a:r>
            </a:p>
            <a:p>
              <a:pPr algn="ctr">
                <a:lnSpc>
                  <a:spcPct val="103000"/>
                </a:lnSpc>
              </a:pP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简单直接的事情描述，进行交流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379818" y="4991064"/>
              <a:ext cx="3236912" cy="5389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与上级沟通</a:t>
              </a:r>
            </a:p>
            <a:p>
              <a:pPr algn="ctr">
                <a:lnSpc>
                  <a:spcPct val="103000"/>
                </a:lnSpc>
              </a:pP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详细的背景信息描述，直接进行交流</a:t>
              </a: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4351888" y="2668247"/>
              <a:ext cx="1355836" cy="116955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外部沟通</a:t>
              </a:r>
            </a:p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外交式沟通，明确公司定位，热身，快速亲和力，有理有力有节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3358387" y="4886620"/>
              <a:ext cx="3279775" cy="158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lIns="0" tIns="0" rIns="0" bIns="0" anchor="ctr"/>
            <a:lstStyle/>
            <a:p>
              <a:endParaRPr lang="zh-CN" altLang="en-US" sz="1400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3691762" y="4045099"/>
              <a:ext cx="2613025" cy="738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跨</a:t>
              </a:r>
              <a:r>
                <a:rPr lang="zh-CN" altLang="en-US" sz="200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部门沟通</a:t>
              </a:r>
              <a:endParaRPr lang="en-US" altLang="zh-CN" sz="20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明确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部门差异，建立关系，详细事情描述，进行交流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352633" y="1740554"/>
            <a:ext cx="1031875" cy="4577498"/>
            <a:chOff x="7209632" y="1740554"/>
            <a:chExt cx="1031875" cy="4577498"/>
          </a:xfrm>
        </p:grpSpPr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7254082" y="2027394"/>
              <a:ext cx="942975" cy="3960000"/>
            </a:xfrm>
            <a:prstGeom prst="upArrow">
              <a:avLst>
                <a:gd name="adj1" fmla="val 50000"/>
                <a:gd name="adj2" fmla="val 96170"/>
              </a:avLst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需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要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时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间</a:t>
              </a:r>
            </a:p>
          </p:txBody>
        </p:sp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7209632" y="1740554"/>
              <a:ext cx="1031875" cy="2762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多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7209632" y="6010275"/>
              <a:ext cx="1031875" cy="30777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少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506745" y="1740554"/>
            <a:ext cx="1031875" cy="4577498"/>
            <a:chOff x="8363744" y="1740554"/>
            <a:chExt cx="1031875" cy="4577498"/>
          </a:xfrm>
        </p:grpSpPr>
        <p:sp>
          <p:nvSpPr>
            <p:cNvPr id="22" name="AutoShape 11"/>
            <p:cNvSpPr>
              <a:spLocks noChangeArrowheads="1"/>
            </p:cNvSpPr>
            <p:nvPr/>
          </p:nvSpPr>
          <p:spPr bwMode="auto">
            <a:xfrm>
              <a:off x="8408194" y="2033744"/>
              <a:ext cx="942975" cy="3960000"/>
            </a:xfrm>
            <a:prstGeom prst="upArrow">
              <a:avLst>
                <a:gd name="adj1" fmla="val 50000"/>
                <a:gd name="adj2" fmla="val 96170"/>
              </a:avLst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沟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通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质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量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对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事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情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进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展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影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响</a:t>
              </a:r>
            </a:p>
          </p:txBody>
        </p:sp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8363744" y="1740554"/>
              <a:ext cx="1031875" cy="2762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大</a:t>
              </a: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8363744" y="6010275"/>
              <a:ext cx="1031875" cy="30777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小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69270" y="1740554"/>
            <a:ext cx="1031875" cy="4577498"/>
            <a:chOff x="626269" y="1740554"/>
            <a:chExt cx="1031875" cy="4577498"/>
          </a:xfrm>
        </p:grpSpPr>
        <p:sp>
          <p:nvSpPr>
            <p:cNvPr id="26" name="AutoShape 18"/>
            <p:cNvSpPr>
              <a:spLocks noChangeArrowheads="1"/>
            </p:cNvSpPr>
            <p:nvPr/>
          </p:nvSpPr>
          <p:spPr bwMode="auto">
            <a:xfrm>
              <a:off x="670719" y="1990881"/>
              <a:ext cx="942975" cy="3960000"/>
            </a:xfrm>
            <a:prstGeom prst="upArrow">
              <a:avLst>
                <a:gd name="adj1" fmla="val 50000"/>
                <a:gd name="adj2" fmla="val 96170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礼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仪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规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范</a:t>
              </a:r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626269" y="1740554"/>
              <a:ext cx="1031875" cy="2762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正式</a:t>
              </a:r>
            </a:p>
          </p:txBody>
        </p:sp>
        <p:sp>
          <p:nvSpPr>
            <p:cNvPr id="28" name="Text Box 21"/>
            <p:cNvSpPr txBox="1">
              <a:spLocks noChangeArrowheads="1"/>
            </p:cNvSpPr>
            <p:nvPr/>
          </p:nvSpPr>
          <p:spPr bwMode="auto">
            <a:xfrm>
              <a:off x="626269" y="6010275"/>
              <a:ext cx="1031875" cy="30777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非正式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923383" y="1740554"/>
            <a:ext cx="1031875" cy="4577498"/>
            <a:chOff x="1780382" y="1740554"/>
            <a:chExt cx="1031875" cy="4577498"/>
          </a:xfrm>
        </p:grpSpPr>
        <p:sp>
          <p:nvSpPr>
            <p:cNvPr id="30" name="AutoShape 17"/>
            <p:cNvSpPr>
              <a:spLocks noChangeArrowheads="1"/>
            </p:cNvSpPr>
            <p:nvPr/>
          </p:nvSpPr>
          <p:spPr bwMode="auto">
            <a:xfrm>
              <a:off x="1824832" y="1997231"/>
              <a:ext cx="942975" cy="3960000"/>
            </a:xfrm>
            <a:prstGeom prst="upArrow">
              <a:avLst>
                <a:gd name="adj1" fmla="val 50000"/>
                <a:gd name="adj2" fmla="val 96170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关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系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导</a:t>
              </a:r>
            </a:p>
            <a:p>
              <a:pPr algn="ctr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向</a:t>
              </a:r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1780382" y="1740554"/>
              <a:ext cx="1031875" cy="2762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高</a:t>
              </a:r>
            </a:p>
          </p:txBody>
        </p:sp>
        <p:sp>
          <p:nvSpPr>
            <p:cNvPr id="32" name="Text Box 22"/>
            <p:cNvSpPr txBox="1">
              <a:spLocks noChangeArrowheads="1"/>
            </p:cNvSpPr>
            <p:nvPr/>
          </p:nvSpPr>
          <p:spPr bwMode="auto">
            <a:xfrm>
              <a:off x="1780382" y="6010275"/>
              <a:ext cx="1031875" cy="30777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微软雅黑" pitchFamily="34" charset="-122"/>
                  <a:ea typeface="微软雅黑" pitchFamily="34" charset="-122"/>
                </a:rPr>
                <a:t>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8205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62"/>
          <p:cNvSpPr>
            <a:spLocks noChangeArrowheads="1"/>
          </p:cNvSpPr>
          <p:nvPr/>
        </p:nvSpPr>
        <p:spPr bwMode="auto">
          <a:xfrm>
            <a:off x="1550541" y="1435421"/>
            <a:ext cx="4354512" cy="435451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020989" y="1794197"/>
            <a:ext cx="6827538" cy="847725"/>
            <a:chOff x="2877989" y="2299172"/>
            <a:chExt cx="6827538" cy="847725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3193900" y="2426172"/>
              <a:ext cx="6511627" cy="720725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7" name="矩形 51"/>
            <p:cNvSpPr>
              <a:spLocks noChangeArrowheads="1"/>
            </p:cNvSpPr>
            <p:nvPr/>
          </p:nvSpPr>
          <p:spPr bwMode="auto">
            <a:xfrm>
              <a:off x="3617763" y="2592860"/>
              <a:ext cx="608776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沟通的基本原则和技巧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 rot="10800000">
              <a:off x="2877989" y="2446810"/>
              <a:ext cx="666750" cy="6699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4"/>
            <p:cNvSpPr>
              <a:spLocks noChangeArrowheads="1"/>
            </p:cNvSpPr>
            <p:nvPr/>
          </p:nvSpPr>
          <p:spPr bwMode="auto">
            <a:xfrm>
              <a:off x="3020846" y="2299172"/>
              <a:ext cx="490475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33689" y="4335783"/>
            <a:ext cx="6814836" cy="825500"/>
            <a:chOff x="2890689" y="4840759"/>
            <a:chExt cx="6814836" cy="825500"/>
          </a:xfrm>
        </p:grpSpPr>
        <p:sp>
          <p:nvSpPr>
            <p:cNvPr id="32" name="圆角矩形 31"/>
            <p:cNvSpPr/>
            <p:nvPr/>
          </p:nvSpPr>
          <p:spPr bwMode="auto">
            <a:xfrm>
              <a:off x="3143101" y="4942359"/>
              <a:ext cx="6562424" cy="723900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33" name="矩形 56"/>
            <p:cNvSpPr>
              <a:spLocks noChangeArrowheads="1"/>
            </p:cNvSpPr>
            <p:nvPr/>
          </p:nvSpPr>
          <p:spPr bwMode="auto">
            <a:xfrm>
              <a:off x="3565375" y="5126509"/>
              <a:ext cx="6140149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即时通讯软件沟通</a:t>
              </a:r>
            </a:p>
          </p:txBody>
        </p:sp>
        <p:sp>
          <p:nvSpPr>
            <p:cNvPr id="34" name="椭圆 33"/>
            <p:cNvSpPr/>
            <p:nvPr/>
          </p:nvSpPr>
          <p:spPr bwMode="auto">
            <a:xfrm rot="10800000">
              <a:off x="2890689" y="4969346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矩形 30"/>
            <p:cNvSpPr>
              <a:spLocks noChangeArrowheads="1"/>
            </p:cNvSpPr>
            <p:nvPr/>
          </p:nvSpPr>
          <p:spPr bwMode="auto">
            <a:xfrm>
              <a:off x="2993876" y="4840759"/>
              <a:ext cx="490538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173265" y="5183509"/>
            <a:ext cx="7675263" cy="815975"/>
            <a:chOff x="2030264" y="5688484"/>
            <a:chExt cx="7675263" cy="815975"/>
          </a:xfrm>
        </p:grpSpPr>
        <p:sp>
          <p:nvSpPr>
            <p:cNvPr id="42" name="矩形 34"/>
            <p:cNvSpPr>
              <a:spLocks noChangeArrowheads="1"/>
            </p:cNvSpPr>
            <p:nvPr/>
          </p:nvSpPr>
          <p:spPr bwMode="auto">
            <a:xfrm>
              <a:off x="2070689" y="5698017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273150" y="5798021"/>
              <a:ext cx="7432377" cy="706438"/>
            </a:xfrm>
            <a:prstGeom prst="roundRect">
              <a:avLst>
                <a:gd name="adj" fmla="val 397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4" name="矩形 62"/>
            <p:cNvSpPr>
              <a:spLocks noChangeArrowheads="1"/>
            </p:cNvSpPr>
            <p:nvPr/>
          </p:nvSpPr>
          <p:spPr bwMode="auto">
            <a:xfrm>
              <a:off x="2700188" y="5925021"/>
              <a:ext cx="700533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 rot="10800000">
              <a:off x="2030264" y="58107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矩形 55"/>
            <p:cNvSpPr>
              <a:spLocks noChangeArrowheads="1"/>
            </p:cNvSpPr>
            <p:nvPr/>
          </p:nvSpPr>
          <p:spPr bwMode="auto">
            <a:xfrm>
              <a:off x="2136612" y="5688484"/>
              <a:ext cx="488886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071664" y="979809"/>
            <a:ext cx="7776864" cy="815975"/>
            <a:chOff x="1928664" y="1484784"/>
            <a:chExt cx="7776864" cy="815975"/>
          </a:xfrm>
        </p:grpSpPr>
        <p:sp>
          <p:nvSpPr>
            <p:cNvPr id="48" name="圆角矩形 47"/>
            <p:cNvSpPr/>
            <p:nvPr/>
          </p:nvSpPr>
          <p:spPr bwMode="auto">
            <a:xfrm>
              <a:off x="2231876" y="1583209"/>
              <a:ext cx="7473652" cy="717550"/>
            </a:xfrm>
            <a:prstGeom prst="roundRect">
              <a:avLst>
                <a:gd name="adj" fmla="val 3705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9" name="矩形 46"/>
            <p:cNvSpPr>
              <a:spLocks noChangeArrowheads="1"/>
            </p:cNvSpPr>
            <p:nvPr/>
          </p:nvSpPr>
          <p:spPr bwMode="auto">
            <a:xfrm>
              <a:off x="2665264" y="1637184"/>
              <a:ext cx="7040264" cy="54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沟通模型、组织文化影响</a:t>
              </a:r>
            </a:p>
          </p:txBody>
        </p:sp>
        <p:sp>
          <p:nvSpPr>
            <p:cNvPr id="50" name="椭圆 49"/>
            <p:cNvSpPr/>
            <p:nvPr/>
          </p:nvSpPr>
          <p:spPr bwMode="auto">
            <a:xfrm rot="10800000">
              <a:off x="1928664" y="1607021"/>
              <a:ext cx="666750" cy="6683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21"/>
            <p:cNvSpPr>
              <a:spLocks noChangeArrowheads="1"/>
            </p:cNvSpPr>
            <p:nvPr/>
          </p:nvSpPr>
          <p:spPr bwMode="auto">
            <a:xfrm>
              <a:off x="2069951" y="1494309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矩形 21"/>
            <p:cNvSpPr>
              <a:spLocks noChangeArrowheads="1"/>
            </p:cNvSpPr>
            <p:nvPr/>
          </p:nvSpPr>
          <p:spPr bwMode="auto">
            <a:xfrm>
              <a:off x="2069951" y="1484784"/>
              <a:ext cx="488950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44839" y="2748283"/>
            <a:ext cx="6503686" cy="735012"/>
            <a:chOff x="3201839" y="3253259"/>
            <a:chExt cx="6503686" cy="735012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3455838" y="3253259"/>
              <a:ext cx="6249687" cy="735012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55" name="矩形 68"/>
            <p:cNvSpPr>
              <a:spLocks noChangeArrowheads="1"/>
            </p:cNvSpPr>
            <p:nvPr/>
          </p:nvSpPr>
          <p:spPr bwMode="auto">
            <a:xfrm>
              <a:off x="3930501" y="3423121"/>
              <a:ext cx="577502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公文沟通</a:t>
              </a:r>
            </a:p>
          </p:txBody>
        </p:sp>
        <p:sp>
          <p:nvSpPr>
            <p:cNvPr id="56" name="椭圆 55"/>
            <p:cNvSpPr/>
            <p:nvPr/>
          </p:nvSpPr>
          <p:spPr bwMode="auto">
            <a:xfrm rot="10800000">
              <a:off x="3201839" y="3288184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7" name="矩形 27"/>
          <p:cNvSpPr>
            <a:spLocks noChangeArrowheads="1"/>
          </p:cNvSpPr>
          <p:nvPr/>
        </p:nvSpPr>
        <p:spPr bwMode="auto">
          <a:xfrm>
            <a:off x="4484537" y="2621283"/>
            <a:ext cx="490527" cy="78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354365" y="3457896"/>
            <a:ext cx="6494161" cy="862013"/>
            <a:chOff x="3211364" y="3962871"/>
            <a:chExt cx="6494161" cy="862013"/>
          </a:xfrm>
        </p:grpSpPr>
        <p:sp>
          <p:nvSpPr>
            <p:cNvPr id="59" name="圆角矩形 58"/>
            <p:cNvSpPr/>
            <p:nvPr/>
          </p:nvSpPr>
          <p:spPr bwMode="auto">
            <a:xfrm>
              <a:off x="3487589" y="4102571"/>
              <a:ext cx="6217936" cy="722313"/>
            </a:xfrm>
            <a:prstGeom prst="roundRect">
              <a:avLst>
                <a:gd name="adj" fmla="val 7618"/>
              </a:avLst>
            </a:prstGeom>
            <a:solidFill>
              <a:srgbClr val="D9D9D9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60" name="矩形 81"/>
            <p:cNvSpPr>
              <a:spLocks noChangeArrowheads="1"/>
            </p:cNvSpPr>
            <p:nvPr/>
          </p:nvSpPr>
          <p:spPr bwMode="auto">
            <a:xfrm>
              <a:off x="3930501" y="4278784"/>
              <a:ext cx="577502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会议沟通</a:t>
              </a:r>
            </a:p>
          </p:txBody>
        </p:sp>
        <p:sp>
          <p:nvSpPr>
            <p:cNvPr id="61" name="椭圆 60"/>
            <p:cNvSpPr/>
            <p:nvPr/>
          </p:nvSpPr>
          <p:spPr bwMode="auto">
            <a:xfrm rot="10800000">
              <a:off x="3211364" y="4129559"/>
              <a:ext cx="666750" cy="6683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矩形 44"/>
            <p:cNvSpPr>
              <a:spLocks noChangeArrowheads="1"/>
            </p:cNvSpPr>
            <p:nvPr/>
          </p:nvSpPr>
          <p:spPr bwMode="auto">
            <a:xfrm>
              <a:off x="3316576" y="3962871"/>
              <a:ext cx="490547" cy="78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400" b="1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48284" y="1977788"/>
            <a:ext cx="2947516" cy="2947517"/>
            <a:chOff x="131763" y="2232025"/>
            <a:chExt cx="4354512" cy="4354513"/>
          </a:xfrm>
        </p:grpSpPr>
        <p:sp>
          <p:nvSpPr>
            <p:cNvPr id="64" name="椭圆 62"/>
            <p:cNvSpPr>
              <a:spLocks noChangeArrowheads="1"/>
            </p:cNvSpPr>
            <p:nvPr/>
          </p:nvSpPr>
          <p:spPr bwMode="auto">
            <a:xfrm>
              <a:off x="131763" y="2232025"/>
              <a:ext cx="4354512" cy="4354513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247650" y="2290763"/>
              <a:ext cx="4156075" cy="415448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565150" y="2608263"/>
              <a:ext cx="3521075" cy="351948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椭圆 105"/>
            <p:cNvSpPr>
              <a:spLocks noChangeArrowheads="1"/>
            </p:cNvSpPr>
            <p:nvPr/>
          </p:nvSpPr>
          <p:spPr bwMode="auto">
            <a:xfrm>
              <a:off x="714375" y="2757488"/>
              <a:ext cx="3222625" cy="32210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8" name="图片 92" descr="bji0140_0045.jpg"/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048000"/>
              <a:ext cx="2036763" cy="2928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D93A799-A0EA-93B1-7BEF-034601E9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163979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年通用课件模版" id="{63E44D20-691F-104F-8ABA-769395639C53}" vid="{DA5710D5-3D75-644A-A401-5B9A2FF51EE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2108</Words>
  <Application>Microsoft Macintosh PowerPoint</Application>
  <PresentationFormat>宽屏</PresentationFormat>
  <Paragraphs>399</Paragraphs>
  <Slides>41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等线</vt:lpstr>
      <vt:lpstr>华文中宋</vt:lpstr>
      <vt:lpstr>宋体</vt:lpstr>
      <vt:lpstr>微软雅黑</vt:lpstr>
      <vt:lpstr>PingFang SC</vt:lpstr>
      <vt:lpstr>PingFang SC Regular</vt:lpstr>
      <vt:lpstr>PingFang SC Semibold</vt:lpstr>
      <vt:lpstr>Arial</vt:lpstr>
      <vt:lpstr>Wingdings</vt:lpstr>
      <vt:lpstr>1_Office 主题​​</vt:lpstr>
      <vt:lpstr>PowerPoint 演示文稿</vt:lpstr>
      <vt:lpstr>培训目的</vt:lpstr>
      <vt:lpstr>目录</vt:lpstr>
      <vt:lpstr>目录</vt:lpstr>
      <vt:lpstr>双向沟通模式</vt:lpstr>
      <vt:lpstr>沟通的类型（从信息传递目的即想要达成的效果的维度分）</vt:lpstr>
      <vt:lpstr>关于组织文化-优秀企业的共性&amp;互相之间的“偏见”</vt:lpstr>
      <vt:lpstr>目录</vt:lpstr>
      <vt:lpstr>沟通的基本原则：实质是“结果导向”+“客户导向”</vt:lpstr>
      <vt:lpstr>你了解你的沟通对象吗？你真的了解吗？</vt:lpstr>
      <vt:lpstr>区别于政治组织、教育机构，在经济组织中，人们的思维方式：</vt:lpstr>
      <vt:lpstr>30秒原则</vt:lpstr>
      <vt:lpstr>3分钟原则、倒置法、一页纸</vt:lpstr>
      <vt:lpstr>给最直接相关的人</vt:lpstr>
      <vt:lpstr>图形优于表格，表格优于文字</vt:lpstr>
      <vt:lpstr>目录</vt:lpstr>
      <vt:lpstr>书面沟通/公文写作的价值＆目的</vt:lpstr>
      <vt:lpstr>哪种文体/文风适合在于职业化的工作环境？</vt:lpstr>
      <vt:lpstr>我们得推广一页纸的“职业文”</vt:lpstr>
      <vt:lpstr>标准格式（建议型及分析型）</vt:lpstr>
      <vt:lpstr>用语规范</vt:lpstr>
      <vt:lpstr>在第一句话中使用精确的动词是简单直接的重要保证</vt:lpstr>
      <vt:lpstr>目录</vt:lpstr>
      <vt:lpstr>PowerPoint 演示文稿</vt:lpstr>
      <vt:lpstr>警惕成为这样的“会议杀手”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利用公共网络平台进行内部沟通</vt:lpstr>
      <vt:lpstr>PowerPoint 演示文稿</vt:lpstr>
      <vt:lpstr>对于不同情境的沟通，员工要有一定的自我调节能力</vt:lpstr>
      <vt:lpstr>目录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金玉 宫</dc:creator>
  <cp:lastModifiedBy>金玉 宫</cp:lastModifiedBy>
  <cp:revision>2</cp:revision>
  <dcterms:created xsi:type="dcterms:W3CDTF">2023-11-28T12:16:38Z</dcterms:created>
  <dcterms:modified xsi:type="dcterms:W3CDTF">2023-11-28T12:41:15Z</dcterms:modified>
</cp:coreProperties>
</file>